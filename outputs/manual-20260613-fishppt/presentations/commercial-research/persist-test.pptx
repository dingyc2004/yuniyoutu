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b807d213064dd7" /><Relationship Type="http://schemas.openxmlformats.org/officeDocument/2006/relationships/extended-properties" Target="/docProps/app.xml" Id="R7370cfe88e654c36" /><Relationship Type="http://schemas.openxmlformats.org/officeDocument/2006/relationships/officeDocument" Target="/ppt/presentation.xml" Id="Radb10a03ab4d46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c4dc44abde4b78"/>
  </p:sldMasterIdLst>
  <p:notesMasterIdLst>
    <p:notesMasterId xmlns:r="http://schemas.openxmlformats.org/officeDocument/2006/relationships" r:id="Ra295d922447844f2"/>
  </p:notesMasterIdLst>
  <p:sldIdLst>
    <p:sldId xmlns:r="http://schemas.openxmlformats.org/officeDocument/2006/relationships" id="256" r:id="R4766c748418c42b8"/>
    <p:sldId xmlns:r="http://schemas.openxmlformats.org/officeDocument/2006/relationships" id="257" r:id="R5eceebd63f404461"/>
    <p:sldId xmlns:r="http://schemas.openxmlformats.org/officeDocument/2006/relationships" id="258" r:id="R4a7132c78d2348be"/>
    <p:sldId xmlns:r="http://schemas.openxmlformats.org/officeDocument/2006/relationships" id="259" r:id="Ra23d24d268bc45c6"/>
    <p:sldId xmlns:r="http://schemas.openxmlformats.org/officeDocument/2006/relationships" id="260" r:id="Rc741b1923a4b4fa5"/>
    <p:sldId xmlns:r="http://schemas.openxmlformats.org/officeDocument/2006/relationships" id="261" r:id="Re964a1ebf1a444a9"/>
    <p:sldId xmlns:r="http://schemas.openxmlformats.org/officeDocument/2006/relationships" id="262" r:id="R7204d34ab058446e"/>
    <p:sldId xmlns:r="http://schemas.openxmlformats.org/officeDocument/2006/relationships" id="263" r:id="Raf99626529ea40d3"/>
    <p:sldId xmlns:r="http://schemas.openxmlformats.org/officeDocument/2006/relationships" id="264" r:id="R1056136c829b4ded"/>
    <p:sldId xmlns:r="http://schemas.openxmlformats.org/officeDocument/2006/relationships" id="265" r:id="R94af276898984974"/>
    <p:sldId xmlns:r="http://schemas.openxmlformats.org/officeDocument/2006/relationships" id="266" r:id="R189ee7930e804f05"/>
    <p:sldId xmlns:r="http://schemas.openxmlformats.org/officeDocument/2006/relationships" id="267" r:id="Rf7db313a1f4240c0"/>
    <p:sldId xmlns:r="http://schemas.openxmlformats.org/officeDocument/2006/relationships" id="268" r:id="R22f2ef2ebcf541f5"/>
    <p:sldId xmlns:r="http://schemas.openxmlformats.org/officeDocument/2006/relationships" id="269" r:id="R2cda127ee91441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812034d5e94d95" /><Relationship Type="http://schemas.openxmlformats.org/officeDocument/2006/relationships/slideMaster" Target="/ppt/slideMasters/slideMaster1.xml" Id="R6dc4dc44abde4b78" /><Relationship Type="http://schemas.openxmlformats.org/officeDocument/2006/relationships/notesMaster" Target="/ppt/notesMasters/notesMaster1.xml" Id="Ra295d922447844f2" /><Relationship Type="http://schemas.openxmlformats.org/officeDocument/2006/relationships/presProps" Target="/ppt/presProps.xml" Id="R430d4edea13c461a" /><Relationship Type="http://schemas.openxmlformats.org/officeDocument/2006/relationships/viewProps" Target="/ppt/viewProps.xml" Id="Rbc54fa60e2e04674" /><Relationship Type="http://schemas.openxmlformats.org/officeDocument/2006/relationships/tableStyles" Target="/ppt/tableStyles.xml" Id="Rbe6e1e65f6b441f7" /><Relationship Type="http://schemas.openxmlformats.org/officeDocument/2006/relationships/slide" Target="/ppt/slides/slide1.xml" Id="R4766c748418c42b8" /><Relationship Type="http://schemas.openxmlformats.org/officeDocument/2006/relationships/slide" Target="/ppt/slides/slide2.xml" Id="R5eceebd63f404461" /><Relationship Type="http://schemas.openxmlformats.org/officeDocument/2006/relationships/slide" Target="/ppt/slides/slide3.xml" Id="R4a7132c78d2348be" /><Relationship Type="http://schemas.openxmlformats.org/officeDocument/2006/relationships/slide" Target="/ppt/slides/slide4.xml" Id="Ra23d24d268bc45c6" /><Relationship Type="http://schemas.openxmlformats.org/officeDocument/2006/relationships/slide" Target="/ppt/slides/slide5.xml" Id="Rc741b1923a4b4fa5" /><Relationship Type="http://schemas.openxmlformats.org/officeDocument/2006/relationships/slide" Target="/ppt/slides/slide6.xml" Id="Re964a1ebf1a444a9" /><Relationship Type="http://schemas.openxmlformats.org/officeDocument/2006/relationships/slide" Target="/ppt/slides/slide7.xml" Id="R7204d34ab058446e" /><Relationship Type="http://schemas.openxmlformats.org/officeDocument/2006/relationships/slide" Target="/ppt/slides/slide8.xml" Id="Raf99626529ea40d3" /><Relationship Type="http://schemas.openxmlformats.org/officeDocument/2006/relationships/slide" Target="/ppt/slides/slide9.xml" Id="R1056136c829b4ded" /><Relationship Type="http://schemas.openxmlformats.org/officeDocument/2006/relationships/slide" Target="/ppt/slides/slide10.xml" Id="R94af276898984974" /><Relationship Type="http://schemas.openxmlformats.org/officeDocument/2006/relationships/slide" Target="/ppt/slides/slide11.xml" Id="R189ee7930e804f05" /><Relationship Type="http://schemas.openxmlformats.org/officeDocument/2006/relationships/slide" Target="/ppt/slides/slide12.xml" Id="Rf7db313a1f4240c0" /><Relationship Type="http://schemas.openxmlformats.org/officeDocument/2006/relationships/slide" Target="/ppt/slides/slide13.xml" Id="R22f2ef2ebcf541f5" /><Relationship Type="http://schemas.openxmlformats.org/officeDocument/2006/relationships/slide" Target="/ppt/slides/slide14.xml" Id="R2cda127ee91441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4892cb486e47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eb7513bce042c6" /><Relationship Type="http://schemas.openxmlformats.org/officeDocument/2006/relationships/notesMaster" Target="/ppt/notesMasters/notesMaster1.xml" Id="R0faac9f9bcfe48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33acd505ca45c8" /><Relationship Type="http://schemas.openxmlformats.org/officeDocument/2006/relationships/notesMaster" Target="/ppt/notesMasters/notesMaster1.xml" Id="Reb7672ff11ae46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0951851ac64e50" /><Relationship Type="http://schemas.openxmlformats.org/officeDocument/2006/relationships/notesMaster" Target="/ppt/notesMasters/notesMaster1.xml" Id="Rd1434f192e1043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cf340508ac4dd2" /><Relationship Type="http://schemas.openxmlformats.org/officeDocument/2006/relationships/notesMaster" Target="/ppt/notesMasters/notesMaster1.xml" Id="R2433384c0c2c48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f22f0e16e74478" /><Relationship Type="http://schemas.openxmlformats.org/officeDocument/2006/relationships/notesMaster" Target="/ppt/notesMasters/notesMaster1.xml" Id="Rb42bccef30ef44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e508cefa6f4c3a" /><Relationship Type="http://schemas.openxmlformats.org/officeDocument/2006/relationships/notesMaster" Target="/ppt/notesMasters/notesMaster1.xml" Id="R1a53e44201b24e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1d9803b62f46e4" /><Relationship Type="http://schemas.openxmlformats.org/officeDocument/2006/relationships/notesMaster" Target="/ppt/notesMasters/notesMaster1.xml" Id="R65e8b7dfcf8840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ac44d99e7345fc" /><Relationship Type="http://schemas.openxmlformats.org/officeDocument/2006/relationships/notesMaster" Target="/ppt/notesMasters/notesMaster1.xml" Id="R7697217a4c3842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02b7fa045d442f" /><Relationship Type="http://schemas.openxmlformats.org/officeDocument/2006/relationships/notesMaster" Target="/ppt/notesMasters/notesMaster1.xml" Id="Ra90a7e6e193f4b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83216055c6464a" /><Relationship Type="http://schemas.openxmlformats.org/officeDocument/2006/relationships/notesMaster" Target="/ppt/notesMasters/notesMaster1.xml" Id="Rb7fdea80a14e44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fceb1ef3604cbf" /><Relationship Type="http://schemas.openxmlformats.org/officeDocument/2006/relationships/notesMaster" Target="/ppt/notesMasters/notesMaster1.xml" Id="Racb1815ec3ff41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b452c0da354577" /><Relationship Type="http://schemas.openxmlformats.org/officeDocument/2006/relationships/notesMaster" Target="/ppt/notesMasters/notesMaster1.xml" Id="R40a84f5b613747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9163bcd4da442d" /><Relationship Type="http://schemas.openxmlformats.org/officeDocument/2006/relationships/notesMaster" Target="/ppt/notesMasters/notesMaster1.xml" Id="R5e1c2a76614d43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44ad96a0b24b3e" /><Relationship Type="http://schemas.openxmlformats.org/officeDocument/2006/relationships/notesMaster" Target="/ppt/notesMasters/notesMaster1.xml" Id="Rc51b60f8354c4f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fb03efc7343f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464db5bc74672" /><Relationship Type="http://schemas.openxmlformats.org/officeDocument/2006/relationships/slideLayout" Target="/ppt/slideLayouts/slideLayout1.xml" Id="R8e71020410d64ce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71020410d64ceb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f82a67d8545e1" /><Relationship Type="http://schemas.openxmlformats.org/officeDocument/2006/relationships/image" Target="/ppt/media/image.png" Id="R29d0d06a51ef4322" /><Relationship Type="http://schemas.openxmlformats.org/officeDocument/2006/relationships/image" Target="/ppt/media/image.svg" Id="R79ab934d5e464760" /><Relationship Type="http://schemas.openxmlformats.org/officeDocument/2006/relationships/image" Target="/ppt/media/image2.png" Id="Rf405f34045314296" /><Relationship Type="http://schemas.openxmlformats.org/officeDocument/2006/relationships/image" Target="/ppt/media/image2.svg" Id="R7400ca9ae51543a7" /><Relationship Type="http://schemas.openxmlformats.org/officeDocument/2006/relationships/image" Target="/ppt/media/image3.png" Id="R22eb98d705c540ff" /><Relationship Type="http://schemas.openxmlformats.org/officeDocument/2006/relationships/image" Target="/ppt/media/image3.svg" Id="R9c2ef5dee56e49e0" /><Relationship Type="http://schemas.openxmlformats.org/officeDocument/2006/relationships/image" Target="/ppt/media/image4.png" Id="Rf80b49e41ea5408b" /><Relationship Type="http://schemas.openxmlformats.org/officeDocument/2006/relationships/image" Target="/ppt/media/image4.svg" Id="R15b7800f96ed475f" /><Relationship Type="http://schemas.openxmlformats.org/officeDocument/2006/relationships/notesSlide" Target="/ppt/notesSlides/notesSlide1.xml" Id="Rcb585a41950d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1a0cbe5404568" /><Relationship Type="http://schemas.openxmlformats.org/officeDocument/2006/relationships/image" Target="/ppt/media/image5.png" Id="R8015da34ec98438f" /><Relationship Type="http://schemas.openxmlformats.org/officeDocument/2006/relationships/image" Target="/ppt/media/image5.svg" Id="R0df4b5952b374db9" /><Relationship Type="http://schemas.openxmlformats.org/officeDocument/2006/relationships/image" Target="/ppt/media/image6.png" Id="Rce2d76e6eff04d67" /><Relationship Type="http://schemas.openxmlformats.org/officeDocument/2006/relationships/image" Target="/ppt/media/image6.svg" Id="Rdb910068fe434aff" /><Relationship Type="http://schemas.openxmlformats.org/officeDocument/2006/relationships/image" Target="/ppt/media/image7.png" Id="Rf2e5d2f0ae8d41d5" /><Relationship Type="http://schemas.openxmlformats.org/officeDocument/2006/relationships/image" Target="/ppt/media/image7.svg" Id="Rac6f697d7fa94a19" /><Relationship Type="http://schemas.openxmlformats.org/officeDocument/2006/relationships/image" Target="/ppt/media/image8.png" Id="R03b529e7173b4754" /><Relationship Type="http://schemas.openxmlformats.org/officeDocument/2006/relationships/image" Target="/ppt/media/image8.svg" Id="R217bd22b39704e86" /><Relationship Type="http://schemas.openxmlformats.org/officeDocument/2006/relationships/image" Target="/ppt/media/image9.png" Id="R3f29a0f3815a4598" /><Relationship Type="http://schemas.openxmlformats.org/officeDocument/2006/relationships/image" Target="/ppt/media/image9.svg" Id="R720d60e787ef42e7" /><Relationship Type="http://schemas.openxmlformats.org/officeDocument/2006/relationships/image" Target="/ppt/media/image10.png" Id="Rc4d9c20239494c95" /><Relationship Type="http://schemas.openxmlformats.org/officeDocument/2006/relationships/image" Target="/ppt/media/image10.svg" Id="R680b5af85e624ed1" /><Relationship Type="http://schemas.openxmlformats.org/officeDocument/2006/relationships/image" Target="/ppt/media/image11.png" Id="Rf3f5f2442855496d" /><Relationship Type="http://schemas.openxmlformats.org/officeDocument/2006/relationships/image" Target="/ppt/media/image11.svg" Id="R7e0eb12bb3d14ef2" /><Relationship Type="http://schemas.openxmlformats.org/officeDocument/2006/relationships/image" Target="/ppt/media/image12.png" Id="R4cf46a107a8f46d1" /><Relationship Type="http://schemas.openxmlformats.org/officeDocument/2006/relationships/image" Target="/ppt/media/image12.svg" Id="Rcded632a03ab4ea4" /><Relationship Type="http://schemas.openxmlformats.org/officeDocument/2006/relationships/image" Target="/ppt/media/image13.png" Id="Reea9721a10bb4be4" /><Relationship Type="http://schemas.openxmlformats.org/officeDocument/2006/relationships/image" Target="/ppt/media/image13.svg" Id="R1b5bd24a0afb48e9" /><Relationship Type="http://schemas.openxmlformats.org/officeDocument/2006/relationships/image" Target="/ppt/media/image14.png" Id="R8d6efea00d4c420f" /><Relationship Type="http://schemas.openxmlformats.org/officeDocument/2006/relationships/image" Target="/ppt/media/image14.svg" Id="Rc74e386150f24dbb" /><Relationship Type="http://schemas.openxmlformats.org/officeDocument/2006/relationships/image" Target="/ppt/media/image15.png" Id="Rd273336494da4b9f" /><Relationship Type="http://schemas.openxmlformats.org/officeDocument/2006/relationships/image" Target="/ppt/media/image15.svg" Id="Rf7512145371140b6" /><Relationship Type="http://schemas.openxmlformats.org/officeDocument/2006/relationships/notesSlide" Target="/ppt/notesSlides/notesSlide2.xml" Id="R0418bc6e24564e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21d2aa43240a0" /><Relationship Type="http://schemas.openxmlformats.org/officeDocument/2006/relationships/image" Target="/ppt/media/image16.png" Id="Ref192ae5afbb4e67" /><Relationship Type="http://schemas.openxmlformats.org/officeDocument/2006/relationships/image" Target="/ppt/media/image16.svg" Id="R8cad5bfa30314012" /><Relationship Type="http://schemas.openxmlformats.org/officeDocument/2006/relationships/image" Target="/ppt/media/image17.png" Id="R5b422025c8f94e94" /><Relationship Type="http://schemas.openxmlformats.org/officeDocument/2006/relationships/image" Target="/ppt/media/image17.svg" Id="R200b4ff8e8dc4a70" /><Relationship Type="http://schemas.openxmlformats.org/officeDocument/2006/relationships/image" Target="/ppt/media/image18.png" Id="R4351e80c00a14c69" /><Relationship Type="http://schemas.openxmlformats.org/officeDocument/2006/relationships/image" Target="/ppt/media/image18.svg" Id="Reee977cee45f4a3f" /><Relationship Type="http://schemas.openxmlformats.org/officeDocument/2006/relationships/image" Target="/ppt/media/image19.png" Id="Ra95371d1b0584e43" /><Relationship Type="http://schemas.openxmlformats.org/officeDocument/2006/relationships/image" Target="/ppt/media/image19.svg" Id="R82b545448487496b" /><Relationship Type="http://schemas.openxmlformats.org/officeDocument/2006/relationships/image" Target="/ppt/media/image20.png" Id="Rf09eb6dc8ab94548" /><Relationship Type="http://schemas.openxmlformats.org/officeDocument/2006/relationships/image" Target="/ppt/media/image20.svg" Id="Rc5c20a3449c0405f" /><Relationship Type="http://schemas.openxmlformats.org/officeDocument/2006/relationships/notesSlide" Target="/ppt/notesSlides/notesSlide3.xml" Id="R76863411cfa04a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d51b00adf4e8d" /><Relationship Type="http://schemas.openxmlformats.org/officeDocument/2006/relationships/image" Target="/ppt/media/image21.png" Id="R80996242f1614c36" /><Relationship Type="http://schemas.openxmlformats.org/officeDocument/2006/relationships/image" Target="/ppt/media/image21.svg" Id="Re7aa97ac831d42a2" /><Relationship Type="http://schemas.openxmlformats.org/officeDocument/2006/relationships/image" Target="/ppt/media/image22.png" Id="Ree7ee5a145964df4" /><Relationship Type="http://schemas.openxmlformats.org/officeDocument/2006/relationships/image" Target="/ppt/media/image22.svg" Id="Re1395123317244aa" /><Relationship Type="http://schemas.openxmlformats.org/officeDocument/2006/relationships/image" Target="/ppt/media/image23.png" Id="Rcf5a3619a13d471c" /><Relationship Type="http://schemas.openxmlformats.org/officeDocument/2006/relationships/image" Target="/ppt/media/image23.svg" Id="Raab0eda7614a4500" /><Relationship Type="http://schemas.openxmlformats.org/officeDocument/2006/relationships/image" Target="/ppt/media/image24.png" Id="R67c45e7475bf463f" /><Relationship Type="http://schemas.openxmlformats.org/officeDocument/2006/relationships/image" Target="/ppt/media/image24.svg" Id="R8c31d88e01b44760" /><Relationship Type="http://schemas.openxmlformats.org/officeDocument/2006/relationships/image" Target="/ppt/media/image25.png" Id="R06f0156781bb4627" /><Relationship Type="http://schemas.openxmlformats.org/officeDocument/2006/relationships/image" Target="/ppt/media/image25.svg" Id="R2b016e6b85c442e8" /><Relationship Type="http://schemas.openxmlformats.org/officeDocument/2006/relationships/notesSlide" Target="/ppt/notesSlides/notesSlide4.xml" Id="R4307ac3279a044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a5ce9bca04d32" /><Relationship Type="http://schemas.openxmlformats.org/officeDocument/2006/relationships/notesSlide" Target="/ppt/notesSlides/notesSlide5.xml" Id="R175714f42d5647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d373217a74563" /><Relationship Type="http://schemas.openxmlformats.org/officeDocument/2006/relationships/image" Target="/ppt/media/image26.png" Id="R3c1f7f5d50784a06" /><Relationship Type="http://schemas.openxmlformats.org/officeDocument/2006/relationships/image" Target="/ppt/media/image26.svg" Id="Rc6462848c8004734" /><Relationship Type="http://schemas.openxmlformats.org/officeDocument/2006/relationships/image" Target="/ppt/media/image27.png" Id="Rdacc952aa3e345b5" /><Relationship Type="http://schemas.openxmlformats.org/officeDocument/2006/relationships/image" Target="/ppt/media/image27.svg" Id="R7b52b26fb77d4cdd" /><Relationship Type="http://schemas.openxmlformats.org/officeDocument/2006/relationships/image" Target="/ppt/media/image28.png" Id="Rda0721fa4f2a4bc3" /><Relationship Type="http://schemas.openxmlformats.org/officeDocument/2006/relationships/image" Target="/ppt/media/image28.svg" Id="R1dbca146720d49bc" /><Relationship Type="http://schemas.openxmlformats.org/officeDocument/2006/relationships/image" Target="/ppt/media/image29.png" Id="R41ac679060114bcd" /><Relationship Type="http://schemas.openxmlformats.org/officeDocument/2006/relationships/image" Target="/ppt/media/image29.svg" Id="Ra50e386997df4dbd" /><Relationship Type="http://schemas.openxmlformats.org/officeDocument/2006/relationships/image" Target="/ppt/media/image30.png" Id="R7488dfa69c12425c" /><Relationship Type="http://schemas.openxmlformats.org/officeDocument/2006/relationships/image" Target="/ppt/media/image30.svg" Id="Rce357631d12e4ea0" /><Relationship Type="http://schemas.openxmlformats.org/officeDocument/2006/relationships/image" Target="/ppt/media/image31.png" Id="R9a399fad69534ed0" /><Relationship Type="http://schemas.openxmlformats.org/officeDocument/2006/relationships/image" Target="/ppt/media/image31.svg" Id="Rbb69557445674a40" /><Relationship Type="http://schemas.openxmlformats.org/officeDocument/2006/relationships/image" Target="/ppt/media/image32.png" Id="R5be674d900114633" /><Relationship Type="http://schemas.openxmlformats.org/officeDocument/2006/relationships/image" Target="/ppt/media/image32.svg" Id="R1fb7f1eba2fa4e17" /><Relationship Type="http://schemas.openxmlformats.org/officeDocument/2006/relationships/notesSlide" Target="/ppt/notesSlides/notesSlide6.xml" Id="R13f37f27efc648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a7e9cd4194fd4" /><Relationship Type="http://schemas.openxmlformats.org/officeDocument/2006/relationships/image" Target="/ppt/media/image33.png" Id="Rc6161eb49fe54416" /><Relationship Type="http://schemas.openxmlformats.org/officeDocument/2006/relationships/image" Target="/ppt/media/image33.svg" Id="Ra48fe9ced82b4324" /><Relationship Type="http://schemas.openxmlformats.org/officeDocument/2006/relationships/image" Target="/ppt/media/image34.png" Id="Rcd43f1bb6bd94ae5" /><Relationship Type="http://schemas.openxmlformats.org/officeDocument/2006/relationships/image" Target="/ppt/media/image34.svg" Id="R2d92da9cb9824133" /><Relationship Type="http://schemas.openxmlformats.org/officeDocument/2006/relationships/image" Target="/ppt/media/image35.png" Id="R1dc7cdd2cdd0484e" /><Relationship Type="http://schemas.openxmlformats.org/officeDocument/2006/relationships/image" Target="/ppt/media/image35.svg" Id="R03d5f62aceef472e" /><Relationship Type="http://schemas.openxmlformats.org/officeDocument/2006/relationships/image" Target="/ppt/media/image36.png" Id="R03c27c6a47194a2c" /><Relationship Type="http://schemas.openxmlformats.org/officeDocument/2006/relationships/image" Target="/ppt/media/image36.svg" Id="R1b77cd28431a4fad" /><Relationship Type="http://schemas.openxmlformats.org/officeDocument/2006/relationships/image" Target="/ppt/media/image37.png" Id="R9dedb4761a5148eb" /><Relationship Type="http://schemas.openxmlformats.org/officeDocument/2006/relationships/image" Target="/ppt/media/image37.svg" Id="R3a99f65586b84c82" /><Relationship Type="http://schemas.openxmlformats.org/officeDocument/2006/relationships/image" Target="/ppt/media/image38.png" Id="R1821b033e70d4a6b" /><Relationship Type="http://schemas.openxmlformats.org/officeDocument/2006/relationships/image" Target="/ppt/media/image38.svg" Id="R269daf382d1c4012" /><Relationship Type="http://schemas.openxmlformats.org/officeDocument/2006/relationships/image" Target="/ppt/media/image39.png" Id="Raf4cde8565404e6b" /><Relationship Type="http://schemas.openxmlformats.org/officeDocument/2006/relationships/image" Target="/ppt/media/image39.svg" Id="R47fd3c75a467480b" /><Relationship Type="http://schemas.openxmlformats.org/officeDocument/2006/relationships/image" Target="/ppt/media/image40.png" Id="R90c1be3bcd8b4698" /><Relationship Type="http://schemas.openxmlformats.org/officeDocument/2006/relationships/image" Target="/ppt/media/image40.svg" Id="Rc35a942535074fd1" /><Relationship Type="http://schemas.openxmlformats.org/officeDocument/2006/relationships/notesSlide" Target="/ppt/notesSlides/notesSlide7.xml" Id="Rff5d72c4d35f40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f8c1aa8e048c0" /><Relationship Type="http://schemas.openxmlformats.org/officeDocument/2006/relationships/image" Target="/ppt/media/image41.png" Id="R7dd4f2e8716c4a91" /><Relationship Type="http://schemas.openxmlformats.org/officeDocument/2006/relationships/image" Target="/ppt/media/image41.svg" Id="R8ffb526b05b94451" /><Relationship Type="http://schemas.openxmlformats.org/officeDocument/2006/relationships/image" Target="/ppt/media/image42.png" Id="R472fd8c6b1ec449c" /><Relationship Type="http://schemas.openxmlformats.org/officeDocument/2006/relationships/image" Target="/ppt/media/image42.svg" Id="R4781607380df47ef" /><Relationship Type="http://schemas.openxmlformats.org/officeDocument/2006/relationships/image" Target="/ppt/media/image43.png" Id="R6d1b9da609234a19" /><Relationship Type="http://schemas.openxmlformats.org/officeDocument/2006/relationships/image" Target="/ppt/media/image43.svg" Id="Re0bf12598f8f43b3" /><Relationship Type="http://schemas.openxmlformats.org/officeDocument/2006/relationships/image" Target="/ppt/media/image44.png" Id="R11264886d2d0453b" /><Relationship Type="http://schemas.openxmlformats.org/officeDocument/2006/relationships/image" Target="/ppt/media/image44.svg" Id="R64a227bd788c4ab1" /><Relationship Type="http://schemas.openxmlformats.org/officeDocument/2006/relationships/image" Target="/ppt/media/image45.png" Id="Rcdf302df93a14a65" /><Relationship Type="http://schemas.openxmlformats.org/officeDocument/2006/relationships/image" Target="/ppt/media/image45.svg" Id="R8f79cae123d24259" /><Relationship Type="http://schemas.openxmlformats.org/officeDocument/2006/relationships/image" Target="/ppt/media/image46.png" Id="R84b05b4067244b47" /><Relationship Type="http://schemas.openxmlformats.org/officeDocument/2006/relationships/image" Target="/ppt/media/image46.svg" Id="R70508a073b744fd7" /><Relationship Type="http://schemas.openxmlformats.org/officeDocument/2006/relationships/image" Target="/ppt/media/image47.png" Id="R333e8a7719d34c53" /><Relationship Type="http://schemas.openxmlformats.org/officeDocument/2006/relationships/image" Target="/ppt/media/image47.svg" Id="Ra1f9ffcee86c434e" /><Relationship Type="http://schemas.openxmlformats.org/officeDocument/2006/relationships/image" Target="/ppt/media/image48.png" Id="R19d124dbf87b4ca5" /><Relationship Type="http://schemas.openxmlformats.org/officeDocument/2006/relationships/image" Target="/ppt/media/image48.svg" Id="R2c354d90f4d14da2" /><Relationship Type="http://schemas.openxmlformats.org/officeDocument/2006/relationships/image" Target="/ppt/media/image49.png" Id="Ra732a6cc8d8744a1" /><Relationship Type="http://schemas.openxmlformats.org/officeDocument/2006/relationships/image" Target="/ppt/media/image49.svg" Id="R1720aec09c6c44f6" /><Relationship Type="http://schemas.openxmlformats.org/officeDocument/2006/relationships/notesSlide" Target="/ppt/notesSlides/notesSlide8.xml" Id="Rc23aa7db50904d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6efc89f84408e" /><Relationship Type="http://schemas.openxmlformats.org/officeDocument/2006/relationships/image" Target="/ppt/media/image50.png" Id="R9200eb59591a4f50" /><Relationship Type="http://schemas.openxmlformats.org/officeDocument/2006/relationships/image" Target="/ppt/media/image50.svg" Id="R1b3f9c0ad9c647c4" /><Relationship Type="http://schemas.openxmlformats.org/officeDocument/2006/relationships/image" Target="/ppt/media/image51.png" Id="R570055f91ade4c92" /><Relationship Type="http://schemas.openxmlformats.org/officeDocument/2006/relationships/image" Target="/ppt/media/image51.svg" Id="Re4e41f0172e54005" /><Relationship Type="http://schemas.openxmlformats.org/officeDocument/2006/relationships/image" Target="/ppt/media/image52.png" Id="R1a37d6c117384607" /><Relationship Type="http://schemas.openxmlformats.org/officeDocument/2006/relationships/image" Target="/ppt/media/image52.svg" Id="Rb6b84f879d044785" /><Relationship Type="http://schemas.openxmlformats.org/officeDocument/2006/relationships/image" Target="/ppt/media/image53.png" Id="Rf041963c27fc4a3f" /><Relationship Type="http://schemas.openxmlformats.org/officeDocument/2006/relationships/image" Target="/ppt/media/image53.svg" Id="Rb94262ecedd54fec" /><Relationship Type="http://schemas.openxmlformats.org/officeDocument/2006/relationships/image" Target="/ppt/media/image54.png" Id="R341a5a4825884f62" /><Relationship Type="http://schemas.openxmlformats.org/officeDocument/2006/relationships/image" Target="/ppt/media/image54.svg" Id="R01e77f85d7a8419d" /><Relationship Type="http://schemas.openxmlformats.org/officeDocument/2006/relationships/image" Target="/ppt/media/image55.png" Id="R504bc55b40814691" /><Relationship Type="http://schemas.openxmlformats.org/officeDocument/2006/relationships/image" Target="/ppt/media/image55.svg" Id="Rbe0f821c7193484e" /><Relationship Type="http://schemas.openxmlformats.org/officeDocument/2006/relationships/image" Target="/ppt/media/image56.png" Id="R3c191f2c190d4bda" /><Relationship Type="http://schemas.openxmlformats.org/officeDocument/2006/relationships/image" Target="/ppt/media/image56.svg" Id="R2c5a1a6a383e454c" /><Relationship Type="http://schemas.openxmlformats.org/officeDocument/2006/relationships/image" Target="/ppt/media/image57.png" Id="R1dec2ce9d2244c12" /><Relationship Type="http://schemas.openxmlformats.org/officeDocument/2006/relationships/image" Target="/ppt/media/image57.svg" Id="R63cc37445e3c4adb" /><Relationship Type="http://schemas.openxmlformats.org/officeDocument/2006/relationships/image" Target="/ppt/media/image58.png" Id="Rc5e2f729526b4eaf" /><Relationship Type="http://schemas.openxmlformats.org/officeDocument/2006/relationships/image" Target="/ppt/media/image58.svg" Id="R3d055e1830e947df" /><Relationship Type="http://schemas.openxmlformats.org/officeDocument/2006/relationships/image" Target="/ppt/media/image59.png" Id="R1d8f508e41474712" /><Relationship Type="http://schemas.openxmlformats.org/officeDocument/2006/relationships/image" Target="/ppt/media/image59.svg" Id="R220ea498a89e4bc1" /><Relationship Type="http://schemas.openxmlformats.org/officeDocument/2006/relationships/image" Target="/ppt/media/image60.png" Id="R3d95b23c4a924d3c" /><Relationship Type="http://schemas.openxmlformats.org/officeDocument/2006/relationships/image" Target="/ppt/media/image60.svg" Id="R3a0bf4b6582647d2" /><Relationship Type="http://schemas.openxmlformats.org/officeDocument/2006/relationships/image" Target="/ppt/media/image61.png" Id="Rd471edf88d734b30" /><Relationship Type="http://schemas.openxmlformats.org/officeDocument/2006/relationships/image" Target="/ppt/media/image61.svg" Id="R1c3d194d88f74291" /><Relationship Type="http://schemas.openxmlformats.org/officeDocument/2006/relationships/image" Target="/ppt/media/image62.png" Id="R715fd910c021463c" /><Relationship Type="http://schemas.openxmlformats.org/officeDocument/2006/relationships/image" Target="/ppt/media/image62.svg" Id="R084996a6e9f94509" /><Relationship Type="http://schemas.openxmlformats.org/officeDocument/2006/relationships/notesSlide" Target="/ppt/notesSlides/notesSlide9.xml" Id="R09a6960305de4f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12ce794974056" /><Relationship Type="http://schemas.openxmlformats.org/officeDocument/2006/relationships/image" Target="/ppt/media/image63.png" Id="R4a3f645fc022494c" /><Relationship Type="http://schemas.openxmlformats.org/officeDocument/2006/relationships/image" Target="/ppt/media/image63.svg" Id="R071f10a7a6d24950" /><Relationship Type="http://schemas.openxmlformats.org/officeDocument/2006/relationships/image" Target="/ppt/media/image64.png" Id="Rfc098803bd7444e6" /><Relationship Type="http://schemas.openxmlformats.org/officeDocument/2006/relationships/image" Target="/ppt/media/image64.svg" Id="R4d8575ec32c54d1f" /><Relationship Type="http://schemas.openxmlformats.org/officeDocument/2006/relationships/image" Target="/ppt/media/image65.png" Id="R083e4726bfaa4a35" /><Relationship Type="http://schemas.openxmlformats.org/officeDocument/2006/relationships/image" Target="/ppt/media/image65.svg" Id="R1ca860ca70124850" /><Relationship Type="http://schemas.openxmlformats.org/officeDocument/2006/relationships/image" Target="/ppt/media/image66.png" Id="Rdd00ada340924d34" /><Relationship Type="http://schemas.openxmlformats.org/officeDocument/2006/relationships/image" Target="/ppt/media/image66.svg" Id="Rf252ed0fd2764604" /><Relationship Type="http://schemas.openxmlformats.org/officeDocument/2006/relationships/image" Target="/ppt/media/image67.png" Id="R43d3d31250694b97" /><Relationship Type="http://schemas.openxmlformats.org/officeDocument/2006/relationships/image" Target="/ppt/media/image67.svg" Id="Rf16eed6e216e4041" /><Relationship Type="http://schemas.openxmlformats.org/officeDocument/2006/relationships/image" Target="/ppt/media/image68.png" Id="Ra3d1edf7686a4a70" /><Relationship Type="http://schemas.openxmlformats.org/officeDocument/2006/relationships/image" Target="/ppt/media/image68.svg" Id="Rd851259c96ad45cf" /><Relationship Type="http://schemas.openxmlformats.org/officeDocument/2006/relationships/image" Target="/ppt/media/image69.png" Id="Rb2f066a2bec041f2" /><Relationship Type="http://schemas.openxmlformats.org/officeDocument/2006/relationships/image" Target="/ppt/media/image69.svg" Id="Rc378f440ca8e4bdd" /><Relationship Type="http://schemas.openxmlformats.org/officeDocument/2006/relationships/image" Target="/ppt/media/image70.png" Id="Rc6a55822c7ec4eea" /><Relationship Type="http://schemas.openxmlformats.org/officeDocument/2006/relationships/image" Target="/ppt/media/image70.svg" Id="R38b8635b213e45cf" /><Relationship Type="http://schemas.openxmlformats.org/officeDocument/2006/relationships/image" Target="/ppt/media/image71.png" Id="R28fd9de3cf1e425b" /><Relationship Type="http://schemas.openxmlformats.org/officeDocument/2006/relationships/image" Target="/ppt/media/image71.svg" Id="R1b080966574b41d9" /><Relationship Type="http://schemas.openxmlformats.org/officeDocument/2006/relationships/notesSlide" Target="/ppt/notesSlides/notesSlide10.xml" Id="Rc466783cdb9141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e1a56ec52495b" /><Relationship Type="http://schemas.openxmlformats.org/officeDocument/2006/relationships/image" Target="/ppt/media/image72.png" Id="R6cf0bc25aad34d07" /><Relationship Type="http://schemas.openxmlformats.org/officeDocument/2006/relationships/image" Target="/ppt/media/image72.svg" Id="R58d872b315fa4f95" /><Relationship Type="http://schemas.openxmlformats.org/officeDocument/2006/relationships/image" Target="/ppt/media/image73.png" Id="Rd844def792d2430b" /><Relationship Type="http://schemas.openxmlformats.org/officeDocument/2006/relationships/image" Target="/ppt/media/image73.svg" Id="Rdb7d98e3bf014581" /><Relationship Type="http://schemas.openxmlformats.org/officeDocument/2006/relationships/image" Target="/ppt/media/image74.png" Id="Rab5ac70dff194322" /><Relationship Type="http://schemas.openxmlformats.org/officeDocument/2006/relationships/image" Target="/ppt/media/image74.svg" Id="R59ea51ae91b14808" /><Relationship Type="http://schemas.openxmlformats.org/officeDocument/2006/relationships/image" Target="/ppt/media/image75.png" Id="R35de5e1f0ef5401a" /><Relationship Type="http://schemas.openxmlformats.org/officeDocument/2006/relationships/image" Target="/ppt/media/image75.svg" Id="R98691aa58abc4b08" /><Relationship Type="http://schemas.openxmlformats.org/officeDocument/2006/relationships/notesSlide" Target="/ppt/notesSlides/notesSlide11.xml" Id="Rded7425a704e4e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c9ab230004687" /><Relationship Type="http://schemas.openxmlformats.org/officeDocument/2006/relationships/image" Target="/ppt/media/image76.png" Id="Rbc19ef47d2f84c74" /><Relationship Type="http://schemas.openxmlformats.org/officeDocument/2006/relationships/image" Target="/ppt/media/image76.svg" Id="Rcfd64839c2664cf9" /><Relationship Type="http://schemas.openxmlformats.org/officeDocument/2006/relationships/image" Target="/ppt/media/image77.png" Id="R1ca64dc732b34335" /><Relationship Type="http://schemas.openxmlformats.org/officeDocument/2006/relationships/image" Target="/ppt/media/image77.svg" Id="R17d9245f87764ce7" /><Relationship Type="http://schemas.openxmlformats.org/officeDocument/2006/relationships/image" Target="/ppt/media/image78.png" Id="Rd104ae6dbcd1428d" /><Relationship Type="http://schemas.openxmlformats.org/officeDocument/2006/relationships/image" Target="/ppt/media/image78.svg" Id="R69717fc38f694a04" /><Relationship Type="http://schemas.openxmlformats.org/officeDocument/2006/relationships/image" Target="/ppt/media/image79.png" Id="Rd529d4bb6b814a05" /><Relationship Type="http://schemas.openxmlformats.org/officeDocument/2006/relationships/image" Target="/ppt/media/image79.svg" Id="R7dc86584d5574032" /><Relationship Type="http://schemas.openxmlformats.org/officeDocument/2006/relationships/image" Target="/ppt/media/image80.png" Id="Rf25aa4e52c514c12" /><Relationship Type="http://schemas.openxmlformats.org/officeDocument/2006/relationships/image" Target="/ppt/media/image80.svg" Id="Rc5a4aa5cdda8488d" /><Relationship Type="http://schemas.openxmlformats.org/officeDocument/2006/relationships/image" Target="/ppt/media/image81.png" Id="Rbfe46872f74746fe" /><Relationship Type="http://schemas.openxmlformats.org/officeDocument/2006/relationships/image" Target="/ppt/media/image81.svg" Id="Rcbca74668f524a78" /><Relationship Type="http://schemas.openxmlformats.org/officeDocument/2006/relationships/image" Target="/ppt/media/image82.png" Id="R16dfea49fdf04e9e" /><Relationship Type="http://schemas.openxmlformats.org/officeDocument/2006/relationships/image" Target="/ppt/media/image82.svg" Id="Rcc24c57eb0094e3d" /><Relationship Type="http://schemas.openxmlformats.org/officeDocument/2006/relationships/notesSlide" Target="/ppt/notesSlides/notesSlide12.xml" Id="R21c27b7ebb2a47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4491ded564452" /><Relationship Type="http://schemas.openxmlformats.org/officeDocument/2006/relationships/image" Target="/ppt/media/image83.png" Id="Rab9bcdb7cf9147fa" /><Relationship Type="http://schemas.openxmlformats.org/officeDocument/2006/relationships/image" Target="/ppt/media/image83.svg" Id="R8373b26c918445d3" /><Relationship Type="http://schemas.openxmlformats.org/officeDocument/2006/relationships/image" Target="/ppt/media/image84.png" Id="R762091fc08e84fcd" /><Relationship Type="http://schemas.openxmlformats.org/officeDocument/2006/relationships/image" Target="/ppt/media/image84.svg" Id="R2b35d52879a646de" /><Relationship Type="http://schemas.openxmlformats.org/officeDocument/2006/relationships/image" Target="/ppt/media/image85.png" Id="R18aff849c9024daa" /><Relationship Type="http://schemas.openxmlformats.org/officeDocument/2006/relationships/image" Target="/ppt/media/image85.svg" Id="Rced053696bf34bb1" /><Relationship Type="http://schemas.openxmlformats.org/officeDocument/2006/relationships/notesSlide" Target="/ppt/notesSlides/notesSlide13.xml" Id="Re12344ebc3b846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bb1fa5a284bac" /><Relationship Type="http://schemas.openxmlformats.org/officeDocument/2006/relationships/image" Target="/ppt/media/image86.png" Id="Rd8dd22eb3ded4e78" /><Relationship Type="http://schemas.openxmlformats.org/officeDocument/2006/relationships/image" Target="/ppt/media/image86.svg" Id="R34211f5bdcb4490e" /><Relationship Type="http://schemas.openxmlformats.org/officeDocument/2006/relationships/image" Target="/ppt/media/image87.png" Id="R45e0fd9c0acd4d30" /><Relationship Type="http://schemas.openxmlformats.org/officeDocument/2006/relationships/image" Target="/ppt/media/image87.svg" Id="Rdb085cddc4394701" /><Relationship Type="http://schemas.openxmlformats.org/officeDocument/2006/relationships/image" Target="/ppt/media/image88.png" Id="R5f79bfd2ec514bd9" /><Relationship Type="http://schemas.openxmlformats.org/officeDocument/2006/relationships/image" Target="/ppt/media/image88.svg" Id="Rbedbbbf7c8bb47f3" /><Relationship Type="http://schemas.openxmlformats.org/officeDocument/2006/relationships/notesSlide" Target="/ppt/notesSlides/notesSlide14.xml" Id="Rbada9b31bf044c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13F49E8-6691-4EB9-BD32-92185763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4C413BC-DF62-4BBF-907F-C722A156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4A4AF1A-06EE-4A2E-856D-0BB2F8B6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012E7C-2958-4090-B536-70A900CC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902A9F-B7EA-429D-BDA5-236C64FD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D366C09-F136-4361-9494-E3628473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1965960" cy="498348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F1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14360F-6E19-4B02-916C-6A637CC0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43584"/>
            <a:ext cx="16367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B1822A6-6470-4064-A06E-B3607EB9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89888"/>
            <a:ext cx="1005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F86BE23-EA18-4C46-B94E-33AB5874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92224"/>
            <a:ext cx="1636776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F27550-349E-4A20-8078-566F5752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20240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武汉</a:t>
            </a:r>
          </a:p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多云 · 26℃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F81BF01-1CDE-4E92-882E-77DC5FC2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1929384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4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8008E38-9801-42AF-87B0-87A4756D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1792224"/>
            <a:ext cx="6583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适钓指数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BEFA0EC-28BE-4CBF-8B23-3617A8DF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68880"/>
            <a:ext cx="1380744" cy="3200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57BFA0-FFF8-4608-B792-AB952A8D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560320"/>
            <a:ext cx="119786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傍晚 17:00–19:00 更适合出钓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5EA4DC5-60F0-47D3-B2EA-264EF7FD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18104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今日推荐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2DA911F-F6E8-49DE-B747-B3176144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56432"/>
            <a:ext cx="763524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2360DED-6913-40E7-A892-CDD75A24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72" y="3456432"/>
            <a:ext cx="763524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39AAD31-07A2-4624-8736-D5DB7653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12464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翘嘴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071576-2902-4AC6-9955-30AB566F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644" y="3712464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路亚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6156F18-4D88-4D4F-A7E9-E6FC32EE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B4EFC4B-72AC-43C2-BCE9-7F108CDD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0F93BB-8B94-4642-9213-66F9605A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24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73D8AB9-70EB-4218-BC99-A4C72A9A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908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51AA781-D4E3-4A0B-9CAF-2D724B1A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992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技巧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FB5706F-209B-4530-B3B3-68881EE6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076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B1A4215-453B-431C-B3A6-77DDD0D3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298448"/>
            <a:ext cx="1965960" cy="48006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F1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82F7AF9-1E56-42E0-AA17-B202DC19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463040"/>
            <a:ext cx="16367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3B6CFC6-1DAC-4687-B636-B42AC056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609344"/>
            <a:ext cx="1005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A6D83AD-7B28-4A9C-9CA0-271F4B67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956816"/>
            <a:ext cx="1636776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AE73043-7025-47B6-B452-89E5543E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048256"/>
            <a:ext cx="112471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搜索水库、河流、钓场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9A61392-539C-425F-A1D0-C0275DF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359152"/>
            <a:ext cx="1636776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589AE2B-BC61-44BE-A54B-D97E3814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2487168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1435C947-68AB-45E4-B8FD-98A03662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2715768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A7BE481-452C-4A8F-BA09-D9BD329F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2944368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7012919-E8AA-4CEC-B236-78E8375C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3172968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DE01744C-56A2-467C-A935-B9FAFA28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3401568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D473D3BE-FE5C-4737-9837-252910F4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3630168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B999A86B-8ED3-47EE-864D-71DD7C79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3858768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5BA50F7-D615-4291-900E-F246D770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280720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EB45DC-69D5-4B2E-9C16-B7532593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2880360"/>
            <a:ext cx="29260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193784DA-8CE6-4B6A-A297-E053BE6A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317296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9833FFD-9B84-4C3A-871A-31990A23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3246120"/>
            <a:ext cx="29260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73E325AC-A588-4E1D-9BF8-4904C1DE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372160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12700">
            <a:solidFill>
              <a:srgbClr val="FF9F1C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B4A6780E-7BE0-47F2-A914-56542113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3794760"/>
            <a:ext cx="29260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390119C2-B56E-481E-975D-C574B2F4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2487168"/>
            <a:ext cx="134416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2D3D">
              <a:alpha val="90000"/>
            </a:srgbClr>
          </a:solidFill>
          <a:ln xmlns:a="http://schemas.openxmlformats.org/drawingml/2006/main" w="12700">
            <a:solidFill>
              <a:srgbClr val="1F2D3D">
                <a:alpha val="0"/>
              </a:srgbClr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DC4A549D-08B4-4574-86AF-0C877D3D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2569464"/>
            <a:ext cx="11612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多云 · 26℃ · 西南风 2级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253E0705-43FA-46EC-BAFC-9CF29EB9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5349240"/>
            <a:ext cx="134416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A1011407-DCA5-4753-B1C4-688D7B6F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5477256"/>
            <a:ext cx="108813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今日推荐：东湖听涛野钓点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02FFDF79-99E8-4DE1-987A-9077CB8B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5788152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EEAE76CC-0E7E-467F-836C-10F6EEFF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540" y="5788152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F76D19D7-6962-4C25-B3F8-98B9DA6F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624" y="5788152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7912863A-C99D-4628-9FBC-A2C0AAF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708" y="5788152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271DB88A-D84F-4CB9-8171-793FCC35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792" y="5788152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技巧</a:t>
            </a:r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5158CA3B-049D-4CA6-88C4-478358F3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876" y="5788152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1116EDE0-DBD3-48B3-A050-87DE14C0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1517904"/>
            <a:ext cx="1828800" cy="459028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F1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68EEF080-2AAF-4B8C-B4E7-187B3388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1682496"/>
            <a:ext cx="149961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4F0C525-5286-45F3-A176-93ECE222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1828800"/>
            <a:ext cx="1005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D06F0B5A-17CF-49E8-9D09-96AB9300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020824"/>
            <a:ext cx="1554480" cy="25603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59A80A2B-775A-4A50-BF3B-4224722D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103120"/>
            <a:ext cx="11338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搜索钓点、鱼种、技巧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ED2BA1FB-09A9-4362-9659-DD29FEF1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368296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4995E7CE-BC1F-4CB5-9CF7-0022A24D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414016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推荐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182DCA1-48FE-4EA1-935A-E70CF4D0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2368296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275EECFC-68D9-486A-AEC6-AD19056B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14016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同城</a:t>
            </a:r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EA8A48FE-CBF3-49B2-A36A-D4E04D4B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368296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9515FB6C-882B-4657-B117-5E85C6CA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414016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关注</a:t>
            </a:r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24D3CA09-5C2D-423E-A19B-EE2018D9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368296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27E7278D-29FC-4A54-98FB-6D162A7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2414016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路亚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4B152EA2-5B45-4E78-9F24-C2864897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633472"/>
            <a:ext cx="685800" cy="128016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C70254EE-65B7-4F8F-9F9C-5323AFA7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633472"/>
            <a:ext cx="6858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F9"/>
          </a:solidFill>
          <a:ln xmlns:a="http://schemas.openxmlformats.org/drawingml/2006/main" w="12700">
            <a:solidFill>
              <a:srgbClr val="D9EBF9"/>
            </a:solidFill>
            <a:prstDash val="solid"/>
          </a:ln>
        </p:spPr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FA8D7D69-312D-41B8-B988-64E71E3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3419856"/>
            <a:ext cx="57607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傍晚窗口 40 分钟</a:t>
            </a:r>
          </a:p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2D043E2B-5263-45DC-9ECD-F88BEFA4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3657600"/>
            <a:ext cx="57607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100D8585-5CCF-41F1-88C2-E7F10115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633472"/>
            <a:ext cx="685800" cy="128016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63981959-C79C-4430-98BB-B4D362E0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633472"/>
            <a:ext cx="6858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2700">
            <a:solidFill>
              <a:srgbClr val="E7EEF5"/>
            </a:solidFill>
            <a:prstDash val="solid"/>
          </a:ln>
        </p:spPr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4CCFAE44-4583-4FB4-9964-BD19FE73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3419856"/>
            <a:ext cx="57607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东湖早口不错</a:t>
            </a:r>
          </a:p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8399E203-C9CB-479B-8582-BDE62A7D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3657600"/>
            <a:ext cx="57607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4D7A5273-95BF-4DBE-9B79-01F30FA5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4050792"/>
            <a:ext cx="685800" cy="128016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ABCF02CA-EC34-49C7-9738-289A9820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4050792"/>
            <a:ext cx="6858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2700">
            <a:solidFill>
              <a:srgbClr val="E7EEF5"/>
            </a:solidFill>
            <a:prstDash val="solid"/>
          </a:ln>
        </p:spPr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395CC92C-6DDB-487A-9AFB-B4993D1C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4837176"/>
            <a:ext cx="57607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傍晚窗口 40 分钟</a:t>
            </a:r>
          </a:p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62C6B94D-7718-44E0-A328-D939E664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5074920"/>
            <a:ext cx="57607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40C06686-9E76-49A6-A87E-EA35D091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4050792"/>
            <a:ext cx="685800" cy="128016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3AC908B7-FEC3-4518-83CC-77311C54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4050792"/>
            <a:ext cx="6858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2700">
            <a:solidFill>
              <a:srgbClr val="E7EEF5"/>
            </a:solidFill>
            <a:prstDash val="solid"/>
          </a:ln>
        </p:spPr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1410DBF1-6808-4EAD-BA0A-3AC0B3EB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4837176"/>
            <a:ext cx="57607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东湖早口不错</a:t>
            </a:r>
          </a:p>
        </p:txBody>
      </p:sp>
      <p:sp>
        <p:nvSpPr>
          <p:cNvPr id="84" name="Text 82">
            <a:extLst xmlns:a="http://schemas.openxmlformats.org/drawingml/2006/main">
              <a:ext uri="{FF2B5EF4-FFF2-40B4-BE49-F238E27FC236}">
                <a16:creationId xmlns:a16="http://schemas.microsoft.com/office/drawing/2014/main" id="{C79C4471-8141-4092-9C94-1C61B391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5074920"/>
            <a:ext cx="57607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0F9A23EF-C07F-4097-8D4E-B3DEA9B6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797296"/>
            <a:ext cx="268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764D69A0-87FA-40B3-9996-276C58FB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904" y="5797296"/>
            <a:ext cx="268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86513C1F-D811-4012-9B8E-E3EE86D0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128" y="5797296"/>
            <a:ext cx="268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88" name="Text 86">
            <a:extLst xmlns:a="http://schemas.openxmlformats.org/drawingml/2006/main">
              <a:ext uri="{FF2B5EF4-FFF2-40B4-BE49-F238E27FC236}">
                <a16:creationId xmlns:a16="http://schemas.microsoft.com/office/drawing/2014/main" id="{58B12D38-E181-40F9-9F87-3982A4A5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5797296"/>
            <a:ext cx="268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3705728F-F4CD-4E90-8BC7-C45A0490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576" y="5797296"/>
            <a:ext cx="268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技巧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D771BFF3-3216-42EC-B081-872EF0E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97296"/>
            <a:ext cx="2682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91" name="Text 89">
            <a:extLst xmlns:a="http://schemas.openxmlformats.org/drawingml/2006/main">
              <a:ext uri="{FF2B5EF4-FFF2-40B4-BE49-F238E27FC236}">
                <a16:creationId xmlns:a16="http://schemas.microsoft.com/office/drawing/2014/main" id="{13E25261-7A80-427C-9207-AD8F1BFA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51206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鱼你有图 FishMan</a:t>
            </a:r>
          </a:p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74D7AFB3-2E0B-4197-B8F7-434EB35F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38528"/>
            <a:ext cx="5212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面向钓鱼爱好者的垂钓 GIS 社交平台</a:t>
            </a:r>
          </a:p>
        </p:txBody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4F0746F7-2DDA-45E0-B62D-9B761276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87168"/>
            <a:ext cx="56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7CFF"/>
            </a:solidFill>
            <a:prstDash val="solid"/>
          </a:ln>
        </p:spPr>
      </p:sp>
      <p:sp>
        <p:nvSpPr>
          <p:cNvPr id="94" name="Text 92">
            <a:extLst xmlns:a="http://schemas.openxmlformats.org/drawingml/2006/main">
              <a:ext uri="{FF2B5EF4-FFF2-40B4-BE49-F238E27FC236}">
                <a16:creationId xmlns:a16="http://schemas.microsoft.com/office/drawing/2014/main" id="{0C08BD44-0CA2-433B-930E-2A346886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79776"/>
            <a:ext cx="47548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用地图解决“去哪钓、能不能钓、有没有鱼”，</a:t>
            </a:r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用社区解决晒成果、学经验、找同好。</a:t>
            </a:r>
          </a:p>
        </p:txBody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CD209885-6D57-4363-B0DD-9119A448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2192"/>
            <a:ext cx="1426464" cy="786384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32D4FD6C-25AE-4AD2-8020-AA8E09FE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9776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9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0d06a51ef4322">
            <a:extLst>
              <a:ext uri="{96DAC541-7B7A-43D3-8B79-37D633B846F1}">
                <asvg:svgBlip xmlns:asvg="http://schemas.microsoft.com/office/drawing/2016/SVG/main" r:embed="R79ab934d5e4647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8859" y="4065971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98" name="Text 95">
            <a:extLst xmlns:a="http://schemas.openxmlformats.org/drawingml/2006/main">
              <a:ext uri="{FF2B5EF4-FFF2-40B4-BE49-F238E27FC236}">
                <a16:creationId xmlns:a16="http://schemas.microsoft.com/office/drawing/2014/main" id="{F90131D2-993F-43C5-872D-3EB5B5DA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959352"/>
            <a:ext cx="7772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地图找点</a:t>
            </a:r>
          </a:p>
        </p:txBody>
      </p:sp>
      <p:sp>
        <p:nvSpPr>
          <p:cNvPr id="99" name="Text 96">
            <a:extLst xmlns:a="http://schemas.openxmlformats.org/drawingml/2006/main">
              <a:ext uri="{FF2B5EF4-FFF2-40B4-BE49-F238E27FC236}">
                <a16:creationId xmlns:a16="http://schemas.microsoft.com/office/drawing/2014/main" id="{2979810D-1130-44FB-A6F4-2563C7F4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4169664"/>
            <a:ext cx="777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精准发现附近钓点</a:t>
            </a:r>
          </a:p>
        </p:txBody>
      </p:sp>
      <p:sp>
        <p:nvSpPr>
          <p:cNvPr id="100" name="Shape 97">
            <a:extLst xmlns:a="http://schemas.openxmlformats.org/drawingml/2006/main">
              <a:ext uri="{FF2B5EF4-FFF2-40B4-BE49-F238E27FC236}">
                <a16:creationId xmlns:a16="http://schemas.microsoft.com/office/drawing/2014/main" id="{93ACB5AB-3F77-4473-9CA3-8CD9DBD4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2192"/>
            <a:ext cx="1426464" cy="786384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01" name="Shape 98">
            <a:extLst xmlns:a="http://schemas.openxmlformats.org/drawingml/2006/main">
              <a:ext uri="{FF2B5EF4-FFF2-40B4-BE49-F238E27FC236}">
                <a16:creationId xmlns:a16="http://schemas.microsoft.com/office/drawing/2014/main" id="{9F226971-E7B7-4BD8-A638-3CA6EF79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9776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0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5f34045314296">
            <a:extLst>
              <a:ext uri="{96DAC541-7B7A-43D3-8B79-37D633B846F1}">
                <asvg:svgBlip xmlns:asvg="http://schemas.microsoft.com/office/drawing/2016/SVG/main" r:embed="R7400ca9ae51543a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9059" y="4065971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103" name="Text 99">
            <a:extLst xmlns:a="http://schemas.openxmlformats.org/drawingml/2006/main">
              <a:ext uri="{FF2B5EF4-FFF2-40B4-BE49-F238E27FC236}">
                <a16:creationId xmlns:a16="http://schemas.microsoft.com/office/drawing/2014/main" id="{EB297DDD-3740-4D68-9B3B-13AA0F91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959352"/>
            <a:ext cx="7772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鱼情推荐</a:t>
            </a:r>
          </a:p>
        </p:txBody>
      </p:sp>
      <p:sp>
        <p:nvSpPr>
          <p:cNvPr id="104" name="Text 100">
            <a:extLst xmlns:a="http://schemas.openxmlformats.org/drawingml/2006/main">
              <a:ext uri="{FF2B5EF4-FFF2-40B4-BE49-F238E27FC236}">
                <a16:creationId xmlns:a16="http://schemas.microsoft.com/office/drawing/2014/main" id="{418E568E-9B02-44F9-8944-EDEBD61D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4169664"/>
            <a:ext cx="777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天气与规则辅助判断</a:t>
            </a:r>
          </a:p>
        </p:txBody>
      </p:sp>
      <p:sp>
        <p:nvSpPr>
          <p:cNvPr id="105" name="Shape 101">
            <a:extLst xmlns:a="http://schemas.openxmlformats.org/drawingml/2006/main">
              <a:ext uri="{FF2B5EF4-FFF2-40B4-BE49-F238E27FC236}">
                <a16:creationId xmlns:a16="http://schemas.microsoft.com/office/drawing/2014/main" id="{5B4B40FA-183D-4062-AD98-15B5ADE4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22192"/>
            <a:ext cx="1426464" cy="786384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06" name="Shape 102">
            <a:extLst xmlns:a="http://schemas.openxmlformats.org/drawingml/2006/main">
              <a:ext uri="{FF2B5EF4-FFF2-40B4-BE49-F238E27FC236}">
                <a16:creationId xmlns:a16="http://schemas.microsoft.com/office/drawing/2014/main" id="{5B1D276F-77A8-4164-B2A9-599F6306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9776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0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b98d705c540ff">
            <a:extLst>
              <a:ext uri="{96DAC541-7B7A-43D3-8B79-37D633B846F1}">
                <asvg:svgBlip xmlns:asvg="http://schemas.microsoft.com/office/drawing/2016/SVG/main" r:embed="R9c2ef5dee56e49e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9259" y="4065971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108" name="Text 103">
            <a:extLst xmlns:a="http://schemas.openxmlformats.org/drawingml/2006/main">
              <a:ext uri="{FF2B5EF4-FFF2-40B4-BE49-F238E27FC236}">
                <a16:creationId xmlns:a16="http://schemas.microsoft.com/office/drawing/2014/main" id="{D830A0FF-18E5-46CC-A84B-BEC9FB49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3959352"/>
            <a:ext cx="7772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鱼获沉淀</a:t>
            </a:r>
          </a:p>
        </p:txBody>
      </p:sp>
      <p:sp>
        <p:nvSpPr>
          <p:cNvPr id="109" name="Text 104">
            <a:extLst xmlns:a="http://schemas.openxmlformats.org/drawingml/2006/main">
              <a:ext uri="{FF2B5EF4-FFF2-40B4-BE49-F238E27FC236}">
                <a16:creationId xmlns:a16="http://schemas.microsoft.com/office/drawing/2014/main" id="{2BB01D08-4CE1-4F18-8FBA-07AF7D1A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4169664"/>
            <a:ext cx="777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记录并反哺钓点</a:t>
            </a:r>
          </a:p>
        </p:txBody>
      </p:sp>
      <p:sp>
        <p:nvSpPr>
          <p:cNvPr id="110" name="Shape 105">
            <a:extLst xmlns:a="http://schemas.openxmlformats.org/drawingml/2006/main">
              <a:ext uri="{FF2B5EF4-FFF2-40B4-BE49-F238E27FC236}">
                <a16:creationId xmlns:a16="http://schemas.microsoft.com/office/drawing/2014/main" id="{9AF4AB00-748D-401B-A4ED-C350B3F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088"/>
            <a:ext cx="12191695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11" name="Text 106">
            <a:extLst xmlns:a="http://schemas.openxmlformats.org/drawingml/2006/main">
              <a:ext uri="{FF2B5EF4-FFF2-40B4-BE49-F238E27FC236}">
                <a16:creationId xmlns:a16="http://schemas.microsoft.com/office/drawing/2014/main" id="{95F6C7F2-8AB5-4A99-8437-80792999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6528816"/>
            <a:ext cx="63093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GIS       ·       Community       ·       Recommendation</a:t>
            </a:r>
          </a:p>
        </p:txBody>
      </p:sp>
      <p:pic>
        <p:nvPicPr>
          <p:cNvPr id="11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b49e41ea5408b">
            <a:extLst>
              <a:ext uri="{96DAC541-7B7A-43D3-8B79-37D633B846F1}">
                <asvg:svgBlip xmlns:asvg="http://schemas.microsoft.com/office/drawing/2016/SVG/main" r:embed="R15b7800f96ed475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5680" y="1417320"/>
            <a:ext cx="347472" cy="3474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36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DD2EB2-5650-4777-B907-4FFD9DBA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99322A6-3FF1-4E2B-83F2-BB6269FD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A935FE-503F-4FD6-B905-8131648B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CB404C-B2DE-44D4-9C11-78157F85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78611F-B05F-4BEB-90FE-A2E64804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E2206E6-ADCC-4ECF-AFEF-4D5F0789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C869C9-530D-4E22-A8A7-5D303AE9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8E66464-ABDD-4DDC-B6F5-1B6114E2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DFBBE28-5BAB-4C39-BAAF-0C830D01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持久化测试标题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B5AECB8-CEBE-447E-B139-2949D281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市场不是“单点工具”，而是内容、位置、出行和分享交叉的完整链路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1D06505-8A12-45F7-84B5-CBDB8CE7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75104"/>
            <a:ext cx="393192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7D8F4A-FAD1-4055-99C3-5E909301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396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5da34ec98438f">
            <a:extLst>
              <a:ext uri="{96DAC541-7B7A-43D3-8B79-37D633B846F1}">
                <asvg:svgBlip xmlns:asvg="http://schemas.microsoft.com/office/drawing/2016/SVG/main" r:embed="R0df4b5952b374d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116" y="224485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EA0BDD0-B7E8-480C-A880-C64C3C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21408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2023 休闲渔业总产值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58637A9-F017-42EA-8292-DF73E863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2048256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4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931.47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16D7844-A6C6-483E-9CB9-467D6B3C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2212848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亿元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83A9B9A-1BE1-4E0C-BF96-D34F8B96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9232"/>
            <a:ext cx="393192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38B8B0E-5077-4468-91E7-DE24CF4D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638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d76e6eff04d67">
            <a:extLst>
              <a:ext uri="{96DAC541-7B7A-43D3-8B79-37D633B846F1}">
                <asvg:svgBlip xmlns:asvg="http://schemas.microsoft.com/office/drawing/2016/SVG/main" r:embed="Rdb910068fe434a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116" y="326898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BAF5636-E38A-474D-B43D-72038B57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45536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2024 休闲渔业产值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A3C2B7B5-2C75-4520-A47B-88053DA5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3072384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4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988.60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466BB808-0598-49AD-AB13-C0E4ED57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3236976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亿元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7710641-4250-4B72-80B1-5F60309D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23360"/>
            <a:ext cx="393192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6FD6447-7CFD-4915-8487-7E434BE3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879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2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5d2f0ae8d41d5">
            <a:extLst>
              <a:ext uri="{96DAC541-7B7A-43D3-8B79-37D633B846F1}">
                <asvg:svgBlip xmlns:asvg="http://schemas.microsoft.com/office/drawing/2016/SVG/main" r:embed="Rac6f697d7fa94a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116" y="429310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FA631D66-F04E-4F10-BF3A-55FC96B2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169664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2023 接待人数</a:t>
            </a:r>
          </a:p>
        </p:txBody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D15415AE-1020-4C08-A7C2-57763AC5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409651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4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2.72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A36659C5-24C8-480D-B691-F2041344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4261104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亿人次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337D7881-3849-49D9-9762-C7A5EE81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01952"/>
            <a:ext cx="6629400" cy="148132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768889BA-F568-4A02-A696-53E2F1D4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15798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3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529e7173b4754">
            <a:extLst>
              <a:ext uri="{96DAC541-7B7A-43D3-8B79-37D633B846F1}">
                <asvg:svgBlip xmlns:asvg="http://schemas.microsoft.com/office/drawing/2016/SVG/main" r:embed="R217bd22b39704e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9633" y="2288377"/>
            <a:ext cx="306141" cy="306141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E723EFEE-0889-421B-81D5-7A663E75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816352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看内容</a:t>
            </a:r>
          </a:p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C9D5EC69-4681-4DDD-9EE3-07623287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230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CEBFF"/>
            </a:solidFill>
            <a:prstDash val="solid"/>
          </a:ln>
        </p:spPr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6AC69137-0341-4AC1-B57D-6B63439A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798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3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9a0f3815a4598">
            <a:extLst>
              <a:ext uri="{96DAC541-7B7A-43D3-8B79-37D633B846F1}">
                <asvg:svgBlip xmlns:asvg="http://schemas.microsoft.com/office/drawing/2016/SVG/main" r:embed="R720d60e787ef42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8393" y="2288377"/>
            <a:ext cx="306141" cy="306141"/>
          </a:xfrm>
          <a:prstGeom xmlns:a="http://schemas.openxmlformats.org/drawingml/2006/main" prst="rect">
            <a:avLst/>
          </a:prstGeom>
        </p:spPr>
      </p:pic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56E686B9-5B0C-4CFE-9FD4-22AC396D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816352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找地点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7B120142-5EC4-4675-860D-A20310C7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43230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CEBFF"/>
            </a:solidFill>
            <a:prstDash val="solid"/>
          </a:ln>
        </p:spPr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00F33709-3F03-4D88-B915-B07004FD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15798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4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9c20239494c95">
            <a:extLst>
              <a:ext uri="{96DAC541-7B7A-43D3-8B79-37D633B846F1}">
                <asvg:svgBlip xmlns:asvg="http://schemas.microsoft.com/office/drawing/2016/SVG/main" r:embed="R680b5af85e624e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97153" y="2288377"/>
            <a:ext cx="306141" cy="306141"/>
          </a:xfrm>
          <a:prstGeom xmlns:a="http://schemas.openxmlformats.org/drawingml/2006/main" prst="rect">
            <a:avLst/>
          </a:prstGeom>
        </p:spPr>
      </p:pic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AEC8AA5F-9EB7-4D97-A248-EA82BA42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816352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出钓</a:t>
            </a:r>
          </a:p>
        </p:txBody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B23F94AF-3F82-41C6-B159-3AD4F4D4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43230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CEBFF"/>
            </a:solidFill>
            <a:prstDash val="solid"/>
          </a:ln>
        </p:spPr>
      </p:sp>
      <p:sp>
        <p:nvSpPr>
          <p:cNvPr id="43" name="Shape 35">
            <a:extLst xmlns:a="http://schemas.openxmlformats.org/drawingml/2006/main">
              <a:ext uri="{FF2B5EF4-FFF2-40B4-BE49-F238E27FC236}">
                <a16:creationId xmlns:a16="http://schemas.microsoft.com/office/drawing/2014/main" id="{7F962755-CF0B-4E55-A04A-EA8A7C76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15798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4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5f2442855496d">
            <a:extLst>
              <a:ext uri="{96DAC541-7B7A-43D3-8B79-37D633B846F1}">
                <asvg:svgBlip xmlns:asvg="http://schemas.microsoft.com/office/drawing/2016/SVG/main" r:embed="R7e0eb12bb3d14ef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5913" y="2288377"/>
            <a:ext cx="306141" cy="306141"/>
          </a:xfrm>
          <a:prstGeom xmlns:a="http://schemas.openxmlformats.org/drawingml/2006/main" prst="rect">
            <a:avLst/>
          </a:prstGeom>
        </p:spPr>
      </p:pic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95CB98BD-597E-4448-BADC-7C7A4AB7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16352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晒鱼获</a:t>
            </a:r>
          </a:p>
        </p:txBody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02FCF997-652E-4F47-9CE3-B21AA8BB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67328"/>
            <a:ext cx="2057400" cy="896112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579BC056-B8B6-485F-AB6D-0581ACA9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9684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48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46a107a8f46d1">
            <a:extLst>
              <a:ext uri="{96DAC541-7B7A-43D3-8B79-37D633B846F1}">
                <asvg:svgBlip xmlns:asvg="http://schemas.microsoft.com/office/drawing/2016/SVG/main" r:embed="Rcded632a03ab4e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7457" y="4061033"/>
            <a:ext cx="217261" cy="217261"/>
          </a:xfrm>
          <a:prstGeom xmlns:a="http://schemas.openxmlformats.org/drawingml/2006/main" prst="rect">
            <a:avLst/>
          </a:prstGeom>
        </p:spPr>
      </p:pic>
      <p:sp>
        <p:nvSpPr>
          <p:cNvPr id="49" name="Text 39">
            <a:extLst xmlns:a="http://schemas.openxmlformats.org/drawingml/2006/main">
              <a:ext uri="{FF2B5EF4-FFF2-40B4-BE49-F238E27FC236}">
                <a16:creationId xmlns:a16="http://schemas.microsoft.com/office/drawing/2014/main" id="{7C1C18A4-1E94-4BCE-9221-7BEDF4D8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3968496"/>
            <a:ext cx="6583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年轻化</a:t>
            </a:r>
          </a:p>
        </p:txBody>
      </p:sp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87F25032-72CC-4E6F-BDFD-088C0272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4224528"/>
            <a:ext cx="115214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年轻用户与路亚人群增长</a:t>
            </a:r>
          </a:p>
        </p:txBody>
      </p:sp>
      <p:sp>
        <p:nvSpPr>
          <p:cNvPr id="51" name="Shape 41">
            <a:extLst xmlns:a="http://schemas.openxmlformats.org/drawingml/2006/main">
              <a:ext uri="{FF2B5EF4-FFF2-40B4-BE49-F238E27FC236}">
                <a16:creationId xmlns:a16="http://schemas.microsoft.com/office/drawing/2014/main" id="{0AD14C38-E8E7-484C-95C2-A093B512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888" y="3767328"/>
            <a:ext cx="2057400" cy="896112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3AE978CD-BEB3-4A42-A7C7-44FD3350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9684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5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9721a10bb4be4">
            <a:extLst>
              <a:ext uri="{96DAC541-7B7A-43D3-8B79-37D633B846F1}">
                <asvg:svgBlip xmlns:asvg="http://schemas.microsoft.com/office/drawing/2016/SVG/main" r:embed="R1b5bd24a0afb48e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80305" y="4061033"/>
            <a:ext cx="217261" cy="217261"/>
          </a:xfrm>
          <a:prstGeom xmlns:a="http://schemas.openxmlformats.org/drawingml/2006/main" prst="rect">
            <a:avLst/>
          </a:prstGeom>
        </p:spPr>
      </p:pic>
      <p:sp>
        <p:nvSpPr>
          <p:cNvPr id="54" name="Text 43">
            <a:extLst xmlns:a="http://schemas.openxmlformats.org/drawingml/2006/main">
              <a:ext uri="{FF2B5EF4-FFF2-40B4-BE49-F238E27FC236}">
                <a16:creationId xmlns:a16="http://schemas.microsoft.com/office/drawing/2014/main" id="{71050C76-0DBE-4D05-866A-7522396E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8496"/>
            <a:ext cx="6583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内容化</a:t>
            </a:r>
          </a:p>
        </p:txBody>
      </p:sp>
      <p:sp>
        <p:nvSpPr>
          <p:cNvPr id="55" name="Text 44">
            <a:extLst xmlns:a="http://schemas.openxmlformats.org/drawingml/2006/main">
              <a:ext uri="{FF2B5EF4-FFF2-40B4-BE49-F238E27FC236}">
                <a16:creationId xmlns:a16="http://schemas.microsoft.com/office/drawing/2014/main" id="{A0CED59C-8727-4C6F-881B-311B30CE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24528"/>
            <a:ext cx="115214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短视频、图文驱动出行决策</a:t>
            </a:r>
          </a:p>
        </p:txBody>
      </p:sp>
      <p:sp>
        <p:nvSpPr>
          <p:cNvPr id="56" name="Shape 45">
            <a:extLst xmlns:a="http://schemas.openxmlformats.org/drawingml/2006/main">
              <a:ext uri="{FF2B5EF4-FFF2-40B4-BE49-F238E27FC236}">
                <a16:creationId xmlns:a16="http://schemas.microsoft.com/office/drawing/2014/main" id="{8A51E8CF-8FEA-418F-990C-042BC6CF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3767328"/>
            <a:ext cx="2057400" cy="896112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57" name="Shape 46">
            <a:extLst xmlns:a="http://schemas.openxmlformats.org/drawingml/2006/main">
              <a:ext uri="{FF2B5EF4-FFF2-40B4-BE49-F238E27FC236}">
                <a16:creationId xmlns:a16="http://schemas.microsoft.com/office/drawing/2014/main" id="{7F9C83F8-C25B-405F-980A-0C1EB16D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9684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58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efea00d4c420f">
            <a:extLst>
              <a:ext uri="{96DAC541-7B7A-43D3-8B79-37D633B846F1}">
                <asvg:svgBlip xmlns:asvg="http://schemas.microsoft.com/office/drawing/2016/SVG/main" r:embed="Rc74e386150f24d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3153" y="4061033"/>
            <a:ext cx="217261" cy="217261"/>
          </a:xfrm>
          <a:prstGeom xmlns:a="http://schemas.openxmlformats.org/drawingml/2006/main" prst="rect">
            <a:avLst/>
          </a:prstGeom>
        </p:spPr>
      </p:pic>
      <p:sp>
        <p:nvSpPr>
          <p:cNvPr id="59" name="Text 47">
            <a:extLst xmlns:a="http://schemas.openxmlformats.org/drawingml/2006/main">
              <a:ext uri="{FF2B5EF4-FFF2-40B4-BE49-F238E27FC236}">
                <a16:creationId xmlns:a16="http://schemas.microsoft.com/office/drawing/2014/main" id="{7E133E08-E76F-443D-BC50-A7C3B46E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3968496"/>
            <a:ext cx="6583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社区化</a:t>
            </a:r>
          </a:p>
        </p:txBody>
      </p:sp>
      <p:sp>
        <p:nvSpPr>
          <p:cNvPr id="60" name="Text 48">
            <a:extLst xmlns:a="http://schemas.openxmlformats.org/drawingml/2006/main">
              <a:ext uri="{FF2B5EF4-FFF2-40B4-BE49-F238E27FC236}">
                <a16:creationId xmlns:a16="http://schemas.microsoft.com/office/drawing/2014/main" id="{A6573120-64BE-4542-8B70-23740534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224528"/>
            <a:ext cx="115214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兴趣互动提升留存与活跃</a:t>
            </a:r>
          </a:p>
        </p:txBody>
      </p:sp>
      <p:sp>
        <p:nvSpPr>
          <p:cNvPr id="61" name="Shape 49">
            <a:extLst xmlns:a="http://schemas.openxmlformats.org/drawingml/2006/main">
              <a:ext uri="{FF2B5EF4-FFF2-40B4-BE49-F238E27FC236}">
                <a16:creationId xmlns:a16="http://schemas.microsoft.com/office/drawing/2014/main" id="{643C92D3-3204-46F0-9D1F-3ACC078A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59552"/>
            <a:ext cx="10927080" cy="53035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62" name="Shape 50">
            <a:extLst xmlns:a="http://schemas.openxmlformats.org/drawingml/2006/main">
              <a:ext uri="{FF2B5EF4-FFF2-40B4-BE49-F238E27FC236}">
                <a16:creationId xmlns:a16="http://schemas.microsoft.com/office/drawing/2014/main" id="{B855E294-FF7C-4DBB-BAA0-1EB11DB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6013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63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3336494da4b9f">
            <a:extLst>
              <a:ext uri="{96DAC541-7B7A-43D3-8B79-37D633B846F1}">
                <asvg:svgBlip xmlns:asvg="http://schemas.microsoft.com/office/drawing/2016/SVG/main" r:embed="Rf7512145371140b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672" y="5735848"/>
            <a:ext cx="177759" cy="177759"/>
          </a:xfrm>
          <a:prstGeom xmlns:a="http://schemas.openxmlformats.org/drawingml/2006/main" prst="rect">
            <a:avLst/>
          </a:prstGeom>
        </p:spPr>
      </p:pic>
      <p:sp>
        <p:nvSpPr>
          <p:cNvPr id="64" name="Text 51">
            <a:extLst xmlns:a="http://schemas.openxmlformats.org/drawingml/2006/main">
              <a:ext uri="{FF2B5EF4-FFF2-40B4-BE49-F238E27FC236}">
                <a16:creationId xmlns:a16="http://schemas.microsoft.com/office/drawing/2014/main" id="{3E25FCDC-244F-4E4C-97D6-E317E97E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724144"/>
            <a:ext cx="9601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市场机会：用户需求链路完整，但现有平台信息分散，缺少垂钓场景的一体化入口。</a:t>
            </a:r>
          </a:p>
        </p:txBody>
      </p:sp>
      <p:sp>
        <p:nvSpPr>
          <p:cNvPr id="65" name="Text 52">
            <a:extLst xmlns:a="http://schemas.openxmlformats.org/drawingml/2006/main">
              <a:ext uri="{FF2B5EF4-FFF2-40B4-BE49-F238E27FC236}">
                <a16:creationId xmlns:a16="http://schemas.microsoft.com/office/drawing/2014/main" id="{07C0222F-3600-464D-8F2A-65CEDB94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91072"/>
            <a:ext cx="54864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数据来源：中国休闲渔业发展监测报告（2024）等前期调研资料</a:t>
            </a:r>
          </a:p>
        </p:txBody>
      </p:sp>
    </p:spTree>
    <p:extLst>
      <p:ext uri="{BB962C8B-B14F-4D97-AF65-F5344CB8AC3E}">
        <p14:creationId xmlns:p14="http://schemas.microsoft.com/office/powerpoint/2010/main" val="450948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F3428A-3D2F-42CA-9161-34B4250B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57EC6C1-327E-4FFA-88CA-475DC138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BC1D5C9-6F73-4661-926C-89697A25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184B9F1-08B3-4B0F-B125-EA408618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E1CD615-E96F-4D26-A218-FF7CC324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4ACB1FD-D79C-4A45-805C-5DC605FA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337722-0747-481E-9D5E-377674A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291A74C-8C3E-451D-9909-8958D2F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568CB82-562F-4650-B90E-8D2CEF66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用户痛点：出钓前后信息断裂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5083B8E-12EB-41B9-AF56-F5B4624E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基于钓鱼全流程，识别四个高频决策痛点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54221BF-F1D9-4CB7-A92D-0FAE7978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93392"/>
            <a:ext cx="489204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D2CF380-DFDC-4CB3-86C1-189EAC94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226771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92ae5afbb4e67">
            <a:extLst>
              <a:ext uri="{96DAC541-7B7A-43D3-8B79-37D633B846F1}">
                <asvg:svgBlip xmlns:asvg="http://schemas.microsoft.com/office/drawing/2016/SVG/main" r:embed="R8cad5bfa303140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3269" y="2389693"/>
            <a:ext cx="286390" cy="286390"/>
          </a:xfrm>
          <a:prstGeom xmlns:a="http://schemas.openxmlformats.org/drawingml/2006/main" prst="rect">
            <a:avLst/>
          </a:prstGeom>
        </p:spPr>
      </p:pic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CAEED09-0D8A-485D-BABA-C30E0630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286000"/>
            <a:ext cx="365760" cy="21945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149AD64-D381-4EA9-A151-CA36E13B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096" y="2331720"/>
            <a:ext cx="29260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19DF691-599B-464D-9AC7-5075DC1C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24028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去哪钓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ED057A6-3A57-4181-91AE-220B3C90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57860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钓点信息分散，通用地图缺少垂钓语义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621F89C-D849-4821-916C-6D19347A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489204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03AA647-ED95-40BD-AAAD-A8297B93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26771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22025c8f94e94">
            <a:extLst>
              <a:ext uri="{96DAC541-7B7A-43D3-8B79-37D633B846F1}">
                <asvg:svgBlip xmlns:asvg="http://schemas.microsoft.com/office/drawing/2016/SVG/main" r:embed="R200b4ff8e8dc4a7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2509" y="2389693"/>
            <a:ext cx="286390" cy="286390"/>
          </a:xfrm>
          <a:prstGeom xmlns:a="http://schemas.openxmlformats.org/drawingml/2006/main" prst="rect">
            <a:avLst/>
          </a:prstGeom>
        </p:spPr>
      </p:pic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04AD2A4-7B8F-4E48-85FF-3ADCD01F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286000"/>
            <a:ext cx="365760" cy="21945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331AD84-EAA4-4EC3-9C77-A6E94BB3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2331720"/>
            <a:ext cx="29260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E0ED04BD-397B-4AC0-B493-A0AFE3D3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24028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能不能钓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84BBB71F-C9E0-48F3-8FB6-1C8B3E2A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57860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禁渔、限钓、现场规则难提前判断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8305839E-4938-4F84-8FE9-9A593FAC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10712"/>
            <a:ext cx="489204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3B3CE455-20C6-457D-9334-D34ADC35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368503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2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1e80c00a14c69">
            <a:extLst>
              <a:ext uri="{96DAC541-7B7A-43D3-8B79-37D633B846F1}">
                <asvg:svgBlip xmlns:asvg="http://schemas.microsoft.com/office/drawing/2016/SVG/main" r:embed="Reee977cee45f4a3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3269" y="3807013"/>
            <a:ext cx="286390" cy="286390"/>
          </a:xfrm>
          <a:prstGeom xmlns:a="http://schemas.openxmlformats.org/drawingml/2006/main" prst="rect">
            <a:avLst/>
          </a:prstGeom>
        </p:spPr>
      </p:pic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F65FDFA9-1C66-4FF6-8161-E4FB4E87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703320"/>
            <a:ext cx="365760" cy="21945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A7A13EB2-6C0F-4520-9D5A-CDF5ABC7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096" y="3749040"/>
            <a:ext cx="29260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5F43E8A0-50DA-4DC8-A889-E467CDC2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36576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有没有鱼</a:t>
            </a:r>
          </a:p>
        </p:txBody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8771E205-9985-492B-9716-AE4D2BF2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399592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鱼情判断依赖经验，天气和历史数据难整合</a:t>
            </a:r>
          </a:p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C2164AB4-906F-4387-89C5-A5695DFB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410712"/>
            <a:ext cx="489204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4806A9D4-C041-4611-BF84-7A67433D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68503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371d1b0584e43">
            <a:extLst>
              <a:ext uri="{96DAC541-7B7A-43D3-8B79-37D633B846F1}">
                <asvg:svgBlip xmlns:asvg="http://schemas.microsoft.com/office/drawing/2016/SVG/main" r:embed="R82b545448487496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2509" y="3807013"/>
            <a:ext cx="286390" cy="286390"/>
          </a:xfrm>
          <a:prstGeom xmlns:a="http://schemas.openxmlformats.org/drawingml/2006/main" prst="rect">
            <a:avLst/>
          </a:prstGeom>
        </p:spPr>
      </p:pic>
      <p:sp>
        <p:nvSpPr>
          <p:cNvPr id="36" name="Shape 30">
            <a:extLst xmlns:a="http://schemas.openxmlformats.org/drawingml/2006/main">
              <a:ext uri="{FF2B5EF4-FFF2-40B4-BE49-F238E27FC236}">
                <a16:creationId xmlns:a16="http://schemas.microsoft.com/office/drawing/2014/main" id="{5E9BE5B1-4DA0-4047-B35F-D68E0C96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03320"/>
            <a:ext cx="365760" cy="21945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0AF32084-F9F6-40B6-925F-CB1F1B26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3749040"/>
            <a:ext cx="29260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AD21888D-25A6-4FC1-9EED-06E1FEFE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65760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如何分享复盘</a:t>
            </a:r>
          </a:p>
        </p:txBody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9904BDE8-BBE5-4CA7-98DD-56A309DC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99592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鱼获内容易流失，缺少可沉淀的数据结构</a:t>
            </a:r>
          </a:p>
        </p:txBody>
      </p:sp>
      <p:sp>
        <p:nvSpPr>
          <p:cNvPr id="40" name="Shape 34">
            <a:extLst xmlns:a="http://schemas.openxmlformats.org/drawingml/2006/main">
              <a:ext uri="{FF2B5EF4-FFF2-40B4-BE49-F238E27FC236}">
                <a16:creationId xmlns:a16="http://schemas.microsoft.com/office/drawing/2014/main" id="{F0655815-479D-4445-935E-C8F2BF0F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486400"/>
            <a:ext cx="10104120" cy="621792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41" name="Shape 35">
            <a:extLst xmlns:a="http://schemas.openxmlformats.org/drawingml/2006/main">
              <a:ext uri="{FF2B5EF4-FFF2-40B4-BE49-F238E27FC236}">
                <a16:creationId xmlns:a16="http://schemas.microsoft.com/office/drawing/2014/main" id="{D37D0399-D372-4749-9015-2571C6ED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96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4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eb6dc8ab94548">
            <a:extLst>
              <a:ext uri="{96DAC541-7B7A-43D3-8B79-37D633B846F1}">
                <asvg:svgBlip xmlns:asvg="http://schemas.microsoft.com/office/drawing/2016/SVG/main" r:embed="Rc5c20a3449c0405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4211" y="5684459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0F228B9A-6885-4960-8B16-F9BBABF1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96712"/>
            <a:ext cx="7772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核心问题：出钓前决策碎片化，出钓后内容难沉淀。</a:t>
            </a:r>
          </a:p>
        </p:txBody>
      </p:sp>
    </p:spTree>
    <p:extLst>
      <p:ext uri="{BB962C8B-B14F-4D97-AF65-F5344CB8AC3E}">
        <p14:creationId xmlns:p14="http://schemas.microsoft.com/office/powerpoint/2010/main" val="1259892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09DF7CF-4083-413B-9ACA-B865577A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E61DFE-3C09-40B0-8385-0E288F05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70B25C3-4C11-4E05-A2B9-247AC8A5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3D78DEF-9348-4C36-9135-2EDA5E81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4A5C2F7-9022-43C2-9E02-2BD2F795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158AAE3-681E-4803-B888-A985626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121F7F3-DCFB-4A53-B01E-65283C56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DC20B3A-5891-46A6-B5BB-6A5DA44A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0DFF930-31F3-45D5-A23F-3DCF935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竞品与机会：垂钓场景链路整合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10F7CE-2908-4283-89E1-1C430B57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现有平台各有优势，但都难以覆盖完整出钓闭环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9F17663-C5F4-4C29-BCC8-8C39A2D1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2487168" cy="233172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5684779-4273-4365-9ABF-46DF7FE4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2313432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96242f1614c36">
            <a:extLst>
              <a:ext uri="{96DAC541-7B7A-43D3-8B79-37D633B846F1}">
                <asvg:svgBlip xmlns:asvg="http://schemas.microsoft.com/office/drawing/2016/SVG/main" r:embed="Re7aa97ac831d42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4850" y="2460650"/>
            <a:ext cx="345643" cy="345643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20DDD77-AC46-41BB-9E3B-2231F519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36392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通用地图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F48D4B4-0E54-4C02-AD7C-4F644199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58444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有底图，缺少垂钓语义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D8D0502-E21B-420B-A23B-52F04F6F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93392"/>
            <a:ext cx="2487168" cy="233172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A285E8E-5F89-4AA7-8CC0-9327C1D4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313432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ee5a145964df4">
            <a:extLst>
              <a:ext uri="{96DAC541-7B7A-43D3-8B79-37D633B846F1}">
                <asvg:svgBlip xmlns:asvg="http://schemas.microsoft.com/office/drawing/2016/SVG/main" r:embed="Re1395123317244a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63770" y="2460650"/>
            <a:ext cx="345643" cy="345643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AA3666-5BBE-4942-8F47-38CBD9CD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136392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垂直社区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385E495C-F171-4E22-A3C6-B5FAA90E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358444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有氛围，空间表达弱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13D7734F-2A17-4484-A5F9-8603A0DB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93392"/>
            <a:ext cx="2487168" cy="233172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3124761-27AC-40F2-A397-E10923CD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313432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a3619a13d471c">
            <a:extLst>
              <a:ext uri="{96DAC541-7B7A-43D3-8B79-37D633B846F1}">
                <asvg:svgBlip xmlns:asvg="http://schemas.microsoft.com/office/drawing/2016/SVG/main" r:embed="Raab0eda7614a45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2690" y="2460650"/>
            <a:ext cx="345643" cy="345643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16B3CE43-6BA4-49E3-98CC-9B366015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36392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泛内容平台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967196FF-3CF9-4BA1-861C-1CD406A1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58444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有流量，信息难沉淀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A311DFA9-1F3F-412F-B1FE-E8D879E1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93392"/>
            <a:ext cx="2487168" cy="233172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4B15FEC-57B5-407B-B86C-ED28A4AB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313432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45e7475bf463f">
            <a:extLst>
              <a:ext uri="{96DAC541-7B7A-43D3-8B79-37D633B846F1}">
                <asvg:svgBlip xmlns:asvg="http://schemas.microsoft.com/office/drawing/2016/SVG/main" r:embed="R8c31d88e01b447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1610" y="2460650"/>
            <a:ext cx="345643" cy="345643"/>
          </a:xfrm>
          <a:prstGeom xmlns:a="http://schemas.openxmlformats.org/drawingml/2006/main" prst="rect">
            <a:avLst/>
          </a:prstGeom>
        </p:spPr>
      </p:pic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48F95DF4-1AE3-4D0D-920F-137836D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36392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单点工具</a:t>
            </a:r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C136D577-4257-4AE9-B55A-2DCD485A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358444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查天气/轨迹强，链路不完整</a:t>
            </a:r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CAC0C930-6E9E-414E-9DF4-581E133F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92624"/>
            <a:ext cx="10241280" cy="841248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19CE0DB3-789E-4C3F-9D89-716EF1F7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7550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3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0156781bb4627">
            <a:extLst>
              <a:ext uri="{96DAC541-7B7A-43D3-8B79-37D633B846F1}">
                <asvg:svgBlip xmlns:asvg="http://schemas.microsoft.com/office/drawing/2016/SVG/main" r:embed="R2b016e6b85c442e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2164" y="528066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A0830257-38C8-49E1-9AE6-D17D6E72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5230368"/>
            <a:ext cx="8732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机会判断：不重造地图、不再做普通论坛，而是把“空间 + 内容 + 推荐”串成出钓决策入口。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6B4FF0DB-EBD9-4DDA-91B1-AC3A4B1E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541264"/>
            <a:ext cx="566928" cy="237744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8F656F91-1A13-4746-97E2-14032BC7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5586984"/>
            <a:ext cx="4937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GIS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6E50FCC2-3B38-47E5-B17F-06876EF5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5541264"/>
            <a:ext cx="566928" cy="237744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9F8F2"/>
          </a:solidFill>
          <a:ln xmlns:a="http://schemas.openxmlformats.org/drawingml/2006/main" w="12700">
            <a:solidFill>
              <a:srgbClr val="E9F8F2"/>
            </a:solidFill>
            <a:prstDash val="solid"/>
          </a:ln>
        </p:spPr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8DA1D7BF-EA3A-4AF0-92EC-D702DB65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5586984"/>
            <a:ext cx="4937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187AE737-A106-4354-BC9D-B389E53C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04" y="5541264"/>
            <a:ext cx="566928" cy="237744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F0EDFF"/>
            </a:solidFill>
            <a:prstDash val="solid"/>
          </a:ln>
        </p:spPr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38E05B03-5700-4803-9A2E-D8C01CBA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586984"/>
            <a:ext cx="4937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rPr>
              <a:t>推荐</a:t>
            </a:r>
          </a:p>
        </p:txBody>
      </p:sp>
    </p:spTree>
    <p:extLst>
      <p:ext uri="{BB962C8B-B14F-4D97-AF65-F5344CB8AC3E}">
        <p14:creationId xmlns:p14="http://schemas.microsoft.com/office/powerpoint/2010/main" val="184439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56D19AC-9CA8-485F-ACD9-342564B0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0C292D-A8B7-47FE-9046-BE34CD94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B39DB6E-4CC9-4DA1-9D76-925A4639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3A28D9-49BE-4D08-8EB3-A85922C2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0F7DD87-0EAB-4B1D-95BB-AF4170AC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B4C661E-9525-4368-83A0-1225973B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78CC912-2A2D-4B1F-9032-1AFB1845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B180269-A937-48F0-87E7-B87626A4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B400F18-256F-406E-BD63-FE1A2C84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证据链：问题、方法与当前结果一一对应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5FB5C0-814E-4A12-B168-E93A6B1B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把评委关心的“为什么可信”压缩成可验证矩阵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8A6DA7A-D82C-4B95-AA68-E759ACF3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20"/>
            <a:ext cx="10991088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13A5A6-9BD9-440B-AB7C-ACE6ED45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9112"/>
            <a:ext cx="22860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00B5C56-2D41-4E1E-8400-E5A3B689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39112"/>
            <a:ext cx="22860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B1AF36E-131D-410E-A7BF-B5E2A5E7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039112"/>
            <a:ext cx="22860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当前结果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C62EA55-232C-4FF6-B779-D408300F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87168"/>
            <a:ext cx="10991088" cy="43891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2B4FD00-BC78-4485-9F14-7EF45DC5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33472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找钓点信息分散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0AE05BE-21FA-483C-B8FB-85A1405F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633472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垂钓语义 POI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5BAE7FF-E1B7-400A-979C-904073F4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633472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POI 字段 / 首页卡片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351B7F0-F2A1-4116-971E-7943EE4B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706624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CEBFF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66E12D2-CD2A-4847-9BD0-03988428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706624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CEBFF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E45ADD8-4215-4D38-A639-E335F73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54096"/>
            <a:ext cx="10991088" cy="43891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DF96CFA-409D-41DC-99CF-208E7B25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00400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天气鱼情靠经验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D17F113-1C35-4B35-A297-EF3487D7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3200400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天气摘要 + 规则推荐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BDF422E-3CB0-4720-B723-9603D2FC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200400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适钓指数 / 推荐接口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6E627C6-F4E0-4847-9308-0B5F094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327355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CEBFF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471B397-0C29-41EB-8FAA-018F1E31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27355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CEBFF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EC9C44E-8752-42F0-AC08-D55B9FB9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21024"/>
            <a:ext cx="10991088" cy="43891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3B9584C-49CF-40D8-BF9A-E05AD6EF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67328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禁钓风险难判断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A17931D-21BC-48AF-B33C-B3D1E0BB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3767328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合规字段优先提示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2134EC9-3DA3-46F3-BBD0-96022EC8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767328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risk / is_banned / 扣分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1A29302-11A4-4160-A161-3E24FE97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3840480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CEBFF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BEACA71-D1AF-4C44-BEC0-AC2132E4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840480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CEBFF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1526FC5-A36C-4EDD-8840-5BB3A9BA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87952"/>
            <a:ext cx="10991088" cy="43891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A3402E2-CC72-405B-9F8B-463199AB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34256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鱼获帖子难沉淀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55C1B86-B7A2-42E5-A71F-05A92C21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4334256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结构化标签反哺 POI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9D5A34E-7697-4643-9044-E8664916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334256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社区流 / 帖子详情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77DBD2BB-C48E-4C9E-B95C-0B6051CD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4407408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CEBFF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22A0AC3-45CD-4A2C-AD45-A6B54F08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407408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CEBFF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761737D-AD52-4A8D-962E-8E6FA1FF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54880"/>
            <a:ext cx="10991088" cy="43891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64EB041A-23A6-4F64-9E6C-3AA3A217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01184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新手学习无路径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5584AD4-355F-4A85-9249-33A14717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4901184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F2D3D"/>
                </a:solidFill>
                <a:latin typeface="Microsoft YaHei"/>
                <a:ea typeface="Microsoft YaHei"/>
                <a:cs typeface="Microsoft YaHei"/>
              </a:rPr>
              <a:t>教程入口与场景联动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05303C5-2053-461B-85B8-FA499456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901184"/>
            <a:ext cx="30175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教程页 / mock 数据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C040A395-C4F3-42FC-A971-12FB4DB8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4974336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CEBFF"/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5EE20653-E596-4EF5-8283-540BBA85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974336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CEBFF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E74EB366-B4AE-4F8F-8606-E53D16F7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15000"/>
            <a:ext cx="10058400" cy="384048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3868B04-633D-4495-B4CE-BC6D6E96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824728"/>
            <a:ext cx="9418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原则：所有远景能力均标注边界，当前只强调已跑通的 MVP 证据。</a:t>
            </a:r>
          </a:p>
        </p:txBody>
      </p:sp>
    </p:spTree>
    <p:extLst>
      <p:ext uri="{BB962C8B-B14F-4D97-AF65-F5344CB8AC3E}">
        <p14:creationId xmlns:p14="http://schemas.microsoft.com/office/powerpoint/2010/main" val="1875396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8097CC-90F5-46AE-9123-BE480AF7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575861-FDE2-4C0B-9B78-045F5537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CC588C2-DD4D-4320-AE1B-CDA26FED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8A24092-0F2B-4E20-A218-AA6B4567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55F11C6-C6F9-4073-A977-1651B8BD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2D7F7A8-42D5-4668-B8ED-F3EBD31E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6B218E5-E503-4933-8039-EF2C1BB8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FED66B4-ED7D-45D5-A14C-C0D78BDA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40B30BD-7734-4A55-ACBC-62BC0003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创新过程：从想法到落地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BE408E8-1A0C-4638-83DE-643E3474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从真实需求出发，逐步收敛为可开发、可演示、可迭代的 MVP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A8AFCDC-7509-4232-9CF3-7B5C5FF2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1572768" cy="214884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59A314E-FCA5-479A-B469-0502EDC4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48716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f7f5d50784a06">
            <a:extLst>
              <a:ext uri="{96DAC541-7B7A-43D3-8B79-37D633B846F1}">
                <asvg:svgBlip xmlns:asvg="http://schemas.microsoft.com/office/drawing/2016/SVG/main" r:embed="Rc6462848c800473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105" y="2617561"/>
            <a:ext cx="306141" cy="306141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8265BC-61EA-4238-86A6-A26AB32C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273552"/>
            <a:ext cx="2926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61C08F5-534C-42DD-A015-96CFBAA7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57600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想法产生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1F0CDAE-2DEA-4CB3-9B06-04CB3426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959352"/>
            <a:ext cx="1170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从垂钓用户真实需求出发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8C9A461-38A9-4E81-BA2A-5B40C4D7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3191256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A0150BD2-50F8-4D2B-A0F9-308FE90C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48840"/>
            <a:ext cx="1572768" cy="214884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D22BB2F-44E3-4732-B391-7B666B25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248716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c952aa3e345b5">
            <a:extLst>
              <a:ext uri="{96DAC541-7B7A-43D3-8B79-37D633B846F1}">
                <asvg:svgBlip xmlns:asvg="http://schemas.microsoft.com/office/drawing/2016/SVG/main" r:embed="R7b52b26fb77d4cd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9625" y="2617561"/>
            <a:ext cx="306141" cy="306141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33A41369-6AF7-4B17-BE4B-0CA0CD63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3273552"/>
            <a:ext cx="2926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A2745E74-7569-481A-A6AB-5D36CCF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3657600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市场调研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F4E2E025-0A65-4616-A95C-1764BFD3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3959352"/>
            <a:ext cx="1170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分析行业规模与竞品格局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7AF8A82-9E9B-4B24-A4B4-6500A22C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191256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E408252F-6E19-471B-BBCC-2BD62C43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148840"/>
            <a:ext cx="1572768" cy="214884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AA0E919D-1352-439D-8E3F-9F2203F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48716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2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721fa4f2a4bc3">
            <a:extLst>
              <a:ext uri="{96DAC541-7B7A-43D3-8B79-37D633B846F1}">
                <asvg:svgBlip xmlns:asvg="http://schemas.microsoft.com/office/drawing/2016/SVG/main" r:embed="R1dbca146720d49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04145" y="2617561"/>
            <a:ext cx="306141" cy="306141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A1C017CA-72CB-4539-9C9B-74270EC7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273552"/>
            <a:ext cx="2926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97C38B-9909-46F2-A1F0-8C758F4F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657600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产品收敛</a:t>
            </a:r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DD9558AF-5037-4F8E-8903-29B8F35E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959352"/>
            <a:ext cx="1170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从社区收敛为 GIS + 社区 + 推荐</a:t>
            </a:r>
          </a:p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32210229-DAA6-4E0C-AA1D-1A89C0C0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3191256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1E29B0AD-E4FA-4113-9A4D-F128FE36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148840"/>
            <a:ext cx="1572768" cy="214884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B1791CDE-30E0-4594-9765-AA142F95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48716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c679060114bcd">
            <a:extLst>
              <a:ext uri="{96DAC541-7B7A-43D3-8B79-37D633B846F1}">
                <asvg:svgBlip xmlns:asvg="http://schemas.microsoft.com/office/drawing/2016/SVG/main" r:embed="Ra50e386997df4db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8665" y="2617561"/>
            <a:ext cx="306141" cy="306141"/>
          </a:xfrm>
          <a:prstGeom xmlns:a="http://schemas.openxmlformats.org/drawingml/2006/main" prst="rect">
            <a:avLst/>
          </a:prstGeom>
        </p:spPr>
      </p:pic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07AD7263-AF9D-4B1E-AF59-F8472211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3273552"/>
            <a:ext cx="2926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C17F0D71-10C2-420E-B666-4B37BC74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3657600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功能设计</a:t>
            </a:r>
          </a:p>
        </p:txBody>
      </p:sp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16C5B299-DF33-40D0-811F-3DFF93B5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3959352"/>
            <a:ext cx="1170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确定首页、POI、社区、记录模块</a:t>
            </a:r>
          </a:p>
        </p:txBody>
      </p:sp>
      <p:sp>
        <p:nvSpPr>
          <p:cNvPr id="39" name="Shape 33">
            <a:extLst xmlns:a="http://schemas.openxmlformats.org/drawingml/2006/main">
              <a:ext uri="{FF2B5EF4-FFF2-40B4-BE49-F238E27FC236}">
                <a16:creationId xmlns:a16="http://schemas.microsoft.com/office/drawing/2014/main" id="{3CEE6350-2F4A-4543-9D05-042A27F2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191256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40" name="Shape 34">
            <a:extLst xmlns:a="http://schemas.openxmlformats.org/drawingml/2006/main">
              <a:ext uri="{FF2B5EF4-FFF2-40B4-BE49-F238E27FC236}">
                <a16:creationId xmlns:a16="http://schemas.microsoft.com/office/drawing/2014/main" id="{A9ABF63C-5162-41E2-8DFC-1448C515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148840"/>
            <a:ext cx="1572768" cy="214884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41" name="Shape 35">
            <a:extLst xmlns:a="http://schemas.openxmlformats.org/drawingml/2006/main">
              <a:ext uri="{FF2B5EF4-FFF2-40B4-BE49-F238E27FC236}">
                <a16:creationId xmlns:a16="http://schemas.microsoft.com/office/drawing/2014/main" id="{EF513602-2105-4A14-94A9-1E9ABE72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48716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4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8dfa69c12425c">
            <a:extLst>
              <a:ext uri="{96DAC541-7B7A-43D3-8B79-37D633B846F1}">
                <asvg:svgBlip xmlns:asvg="http://schemas.microsoft.com/office/drawing/2016/SVG/main" r:embed="Rce357631d12e4e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53185" y="2617561"/>
            <a:ext cx="306141" cy="306141"/>
          </a:xfrm>
          <a:prstGeom xmlns:a="http://schemas.openxmlformats.org/drawingml/2006/main" prst="rect">
            <a:avLst/>
          </a:prstGeom>
        </p:spPr>
      </p:pic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34CF1B3C-370E-4A04-AE7D-3AB90B12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273552"/>
            <a:ext cx="2926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0D6B744A-01D0-4BB5-9811-3EB36D8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657600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技术选型</a:t>
            </a:r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E1926E2B-9025-44B3-97CC-4201CF3A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959352"/>
            <a:ext cx="1170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Vue + FastAPI + JSON mock + 接口预留</a:t>
            </a:r>
          </a:p>
        </p:txBody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2AE3C60F-B26C-47B6-9944-4F91A366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3191256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E6EC5782-744C-4A4E-B1E4-F10968E7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48840"/>
            <a:ext cx="1572768" cy="214884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48" name="Shape 41">
            <a:extLst xmlns:a="http://schemas.openxmlformats.org/drawingml/2006/main">
              <a:ext uri="{FF2B5EF4-FFF2-40B4-BE49-F238E27FC236}">
                <a16:creationId xmlns:a16="http://schemas.microsoft.com/office/drawing/2014/main" id="{4116D924-7696-499E-864A-67605C3D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312" y="248716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99fad69534ed0">
            <a:extLst>
              <a:ext uri="{96DAC541-7B7A-43D3-8B79-37D633B846F1}">
                <asvg:svgBlip xmlns:asvg="http://schemas.microsoft.com/office/drawing/2016/SVG/main" r:embed="Rbb69557445674a4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7705" y="2617561"/>
            <a:ext cx="306141" cy="306141"/>
          </a:xfrm>
          <a:prstGeom xmlns:a="http://schemas.openxmlformats.org/drawingml/2006/main" prst="rect">
            <a:avLst/>
          </a:prstGeom>
        </p:spPr>
      </p:pic>
      <p:sp>
        <p:nvSpPr>
          <p:cNvPr id="50" name="Text 42">
            <a:extLst xmlns:a="http://schemas.openxmlformats.org/drawingml/2006/main">
              <a:ext uri="{FF2B5EF4-FFF2-40B4-BE49-F238E27FC236}">
                <a16:creationId xmlns:a16="http://schemas.microsoft.com/office/drawing/2014/main" id="{B15C783C-16F4-478A-8C91-FD1DC413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3273552"/>
            <a:ext cx="2926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1" name="Text 43">
            <a:extLst xmlns:a="http://schemas.openxmlformats.org/drawingml/2006/main">
              <a:ext uri="{FF2B5EF4-FFF2-40B4-BE49-F238E27FC236}">
                <a16:creationId xmlns:a16="http://schemas.microsoft.com/office/drawing/2014/main" id="{D9D61AA6-F5C6-4D90-9665-3C9FEC5C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3657600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MVP 落地</a:t>
            </a:r>
          </a:p>
        </p:txBody>
      </p:sp>
      <p:sp>
        <p:nvSpPr>
          <p:cNvPr id="52" name="Text 44">
            <a:extLst xmlns:a="http://schemas.openxmlformats.org/drawingml/2006/main">
              <a:ext uri="{FF2B5EF4-FFF2-40B4-BE49-F238E27FC236}">
                <a16:creationId xmlns:a16="http://schemas.microsoft.com/office/drawing/2014/main" id="{125F14B9-7FC3-4C56-B980-12BBD603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3959352"/>
            <a:ext cx="11704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完成页面、接口与核心闭环演示</a:t>
            </a:r>
          </a:p>
        </p:txBody>
      </p:sp>
      <p:sp>
        <p:nvSpPr>
          <p:cNvPr id="53" name="Shape 45">
            <a:extLst xmlns:a="http://schemas.openxmlformats.org/drawingml/2006/main">
              <a:ext uri="{FF2B5EF4-FFF2-40B4-BE49-F238E27FC236}">
                <a16:creationId xmlns:a16="http://schemas.microsoft.com/office/drawing/2014/main" id="{5D21B1D6-C11F-4EE4-B511-7D0A47FA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5285232"/>
            <a:ext cx="640080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54" name="Shape 46">
            <a:extLst xmlns:a="http://schemas.openxmlformats.org/drawingml/2006/main">
              <a:ext uri="{FF2B5EF4-FFF2-40B4-BE49-F238E27FC236}">
                <a16:creationId xmlns:a16="http://schemas.microsoft.com/office/drawing/2014/main" id="{EF4A8FF4-4EA3-4C2C-8B66-6CD87AFB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53949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5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674d900114633">
            <a:extLst>
              <a:ext uri="{96DAC541-7B7A-43D3-8B79-37D633B846F1}">
                <asvg:svgBlip xmlns:asvg="http://schemas.microsoft.com/office/drawing/2016/SVG/main" r:embed="R1fb7f1eba2fa4e1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6186" y="5466466"/>
            <a:ext cx="167884" cy="167884"/>
          </a:xfrm>
          <a:prstGeom xmlns:a="http://schemas.openxmlformats.org/drawingml/2006/main" prst="rect">
            <a:avLst/>
          </a:prstGeom>
        </p:spPr>
      </p:pic>
      <p:sp>
        <p:nvSpPr>
          <p:cNvPr id="56" name="Text 47">
            <a:extLst xmlns:a="http://schemas.openxmlformats.org/drawingml/2006/main">
              <a:ext uri="{FF2B5EF4-FFF2-40B4-BE49-F238E27FC236}">
                <a16:creationId xmlns:a16="http://schemas.microsoft.com/office/drawing/2014/main" id="{7883D5BF-26F6-4CFA-AD45-AEE5B41E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95544"/>
            <a:ext cx="5029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后续迭代：数据增长 → 服务增长 → 商业增长</a:t>
            </a:r>
          </a:p>
        </p:txBody>
      </p:sp>
    </p:spTree>
    <p:extLst>
      <p:ext uri="{BB962C8B-B14F-4D97-AF65-F5344CB8AC3E}">
        <p14:creationId xmlns:p14="http://schemas.microsoft.com/office/powerpoint/2010/main" val="15392088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5BD456-A2C1-4EA4-8025-8F5720E1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8035F55-E002-41BB-9EEF-E729946C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46B9255-C944-44A5-9B82-6EF2CE26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EB369E-66D9-42F7-BD8E-7EB1BBC2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D8B6C89-DEE4-4AF8-83DA-C1CC8ECD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848B96E-7AFD-4B38-A85C-F0154F09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B27CC96-5A5E-4A38-90F6-D5204A59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983DE4C-A2B5-402A-BB0B-994549D0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8AC8AAC-12E7-450C-AAAD-D0BA021F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产品闭环：用数据驱动每一次出钓体验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C398675-18EA-48DC-A194-A7495CB4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以 GIS 为入口，连接空间、内容与用户行为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052C0C2-C400-4142-AB8C-B550C37D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2788920" cy="2926080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A0EB262-8BF5-4F0D-9F99-998CC74A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2304288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61eb49fe54416">
            <a:extLst>
              <a:ext uri="{96DAC541-7B7A-43D3-8B79-37D633B846F1}">
                <asvg:svgBlip xmlns:asvg="http://schemas.microsoft.com/office/drawing/2016/SVG/main" r:embed="Ra48fe9ced82b432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878" y="2443094"/>
            <a:ext cx="325892" cy="325892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5274065-AFC1-46A3-A131-D5261A5C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72384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定位：垂钓 GIS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社交平台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EBF6753-FB25-4B5D-8040-0BA1429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849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3C8C986-0FE8-4F9B-A239-FEF8C41D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895344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空间入口：发现附近钓点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929080F-7A0A-4793-A0BA-3A970041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596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532F990-B19B-4401-854D-838026CD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242816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内容沉淀：记录经验与鱼获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56A7739-035C-4877-B216-32C579D1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34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3A30A75-2D6D-4C9E-AA58-03CAA4B1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590288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推荐决策：数据驱动选择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96AE3CC-3567-4E7F-B205-112D54CD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423160"/>
            <a:ext cx="2048256" cy="20482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8FF"/>
          </a:solidFill>
          <a:ln xmlns:a="http://schemas.openxmlformats.org/drawingml/2006/main" w="12700">
            <a:solidFill>
              <a:srgbClr val="DCEBFF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0932FA0-3DBD-426A-83BD-CE97C796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3127248"/>
            <a:ext cx="1737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核心闭环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驱动内容与数据双向增长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48393D4-2910-4D6C-90E1-018EFD2D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1755648"/>
            <a:ext cx="1042416" cy="676656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3f1bb6bd94ae5">
            <a:extLst>
              <a:ext uri="{96DAC541-7B7A-43D3-8B79-37D633B846F1}">
                <asvg:svgBlip xmlns:asvg="http://schemas.microsoft.com/office/drawing/2016/SVG/main" r:embed="R2d92da9cb98241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6752" y="186537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FEAE482-2227-4045-AB1A-84AD2E5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2176272"/>
            <a:ext cx="89611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地图找点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5ADD72E8-0EC7-499B-8115-7F64F154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304288"/>
            <a:ext cx="1042416" cy="676656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pic>
        <p:nvPicPr>
          <p:cNvPr id="2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7cdd2cdd0484e">
            <a:extLst>
              <a:ext uri="{96DAC541-7B7A-43D3-8B79-37D633B846F1}">
                <asvg:svgBlip xmlns:asvg="http://schemas.microsoft.com/office/drawing/2016/SVG/main" r:embed="R03d5f62aceef472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6368" y="241401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366A8A19-0840-48BC-9948-580B6073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724912"/>
            <a:ext cx="89611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天气/鱼情判断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8A41E264-9178-49DE-88D8-B9306A09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959352"/>
            <a:ext cx="1042416" cy="676656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pic>
        <p:nvPicPr>
          <p:cNvPr id="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27c6a47194a2c">
            <a:extLst>
              <a:ext uri="{96DAC541-7B7A-43D3-8B79-37D633B846F1}">
                <asvg:svgBlip xmlns:asvg="http://schemas.microsoft.com/office/drawing/2016/SVG/main" r:embed="R1b77cd28431a4f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6368" y="406908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9DBB4595-96CE-42DE-8129-925B7C29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379976"/>
            <a:ext cx="89611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查看 POI 详情</a:t>
            </a:r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54C59B57-CEB4-4859-BA01-7DC4F7FC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4590288"/>
            <a:ext cx="1042416" cy="676656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pic>
        <p:nvPicPr>
          <p:cNvPr id="3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db4761a5148eb">
            <a:extLst>
              <a:ext uri="{96DAC541-7B7A-43D3-8B79-37D633B846F1}">
                <asvg:svgBlip xmlns:asvg="http://schemas.microsoft.com/office/drawing/2016/SVG/main" r:embed="R3a99f65586b84c8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6752" y="470001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EB1F5AB3-3B99-4C79-8C1F-04646CE7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5010912"/>
            <a:ext cx="89611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出钓记录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3738782-181F-4C66-A1F5-D43404BD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959352"/>
            <a:ext cx="1042416" cy="676656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1b033e70d4a6b">
            <a:extLst>
              <a:ext uri="{96DAC541-7B7A-43D3-8B79-37D633B846F1}">
                <asvg:svgBlip xmlns:asvg="http://schemas.microsoft.com/office/drawing/2016/SVG/main" r:embed="R269daf382d1c40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4568" y="406908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0A22E160-01F5-4ACB-8846-1C19BB09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4379976"/>
            <a:ext cx="89611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社区发布</a:t>
            </a:r>
          </a:p>
        </p:txBody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53C77D55-45F1-47A4-A1F0-65D42066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304288"/>
            <a:ext cx="1042416" cy="676656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pic>
        <p:nvPicPr>
          <p:cNvPr id="4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cde8565404e6b">
            <a:extLst>
              <a:ext uri="{96DAC541-7B7A-43D3-8B79-37D633B846F1}">
                <asvg:svgBlip xmlns:asvg="http://schemas.microsoft.com/office/drawing/2016/SVG/main" r:embed="R47fd3c75a46748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4568" y="241401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445B85A5-7B80-453C-A717-C6C29E3B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2724912"/>
            <a:ext cx="89611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数据反哺 POI</a:t>
            </a:r>
          </a:p>
        </p:txBody>
      </p:sp>
      <p:sp>
        <p:nvSpPr>
          <p:cNvPr id="42" name="Shape 33">
            <a:extLst xmlns:a="http://schemas.openxmlformats.org/drawingml/2006/main">
              <a:ext uri="{FF2B5EF4-FFF2-40B4-BE49-F238E27FC236}">
                <a16:creationId xmlns:a16="http://schemas.microsoft.com/office/drawing/2014/main" id="{149E9AE6-2A6E-4D90-B491-65C49534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554480"/>
            <a:ext cx="1042416" cy="676656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pic>
        <p:nvPicPr>
          <p:cNvPr id="43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1be3bcd8b4698">
            <a:extLst>
              <a:ext uri="{96DAC541-7B7A-43D3-8B79-37D633B846F1}">
                <asvg:svgBlip xmlns:asvg="http://schemas.microsoft.com/office/drawing/2016/SVG/main" r:embed="Rc35a942535074f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0" y="166420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51DA0F92-7485-4203-97FC-0BDB4A1B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1975104"/>
            <a:ext cx="89611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推荐优化</a:t>
            </a:r>
          </a:p>
        </p:txBody>
      </p:sp>
      <p:sp>
        <p:nvSpPr>
          <p:cNvPr id="45" name="Shape 35">
            <a:extLst xmlns:a="http://schemas.openxmlformats.org/drawingml/2006/main">
              <a:ext uri="{FF2B5EF4-FFF2-40B4-BE49-F238E27FC236}">
                <a16:creationId xmlns:a16="http://schemas.microsoft.com/office/drawing/2014/main" id="{8E7B8A4A-BC28-4AD6-82EF-272C23FD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084832"/>
            <a:ext cx="548640" cy="201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46" name="Shape 36">
            <a:extLst xmlns:a="http://schemas.openxmlformats.org/drawingml/2006/main">
              <a:ext uri="{FF2B5EF4-FFF2-40B4-BE49-F238E27FC236}">
                <a16:creationId xmlns:a16="http://schemas.microsoft.com/office/drawing/2014/main" id="{337C6D73-E377-4D8F-86E5-2CBB2ED2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990088"/>
            <a:ext cx="0" cy="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47" name="Shape 37">
            <a:extLst xmlns:a="http://schemas.openxmlformats.org/drawingml/2006/main">
              <a:ext uri="{FF2B5EF4-FFF2-40B4-BE49-F238E27FC236}">
                <a16:creationId xmlns:a16="http://schemas.microsoft.com/office/drawing/2014/main" id="{2C320AA0-DAAA-425D-85FE-4F8B1EE0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517136"/>
            <a:ext cx="-530352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48" name="Shape 38">
            <a:extLst xmlns:a="http://schemas.openxmlformats.org/drawingml/2006/main">
              <a:ext uri="{FF2B5EF4-FFF2-40B4-BE49-F238E27FC236}">
                <a16:creationId xmlns:a16="http://schemas.microsoft.com/office/drawing/2014/main" id="{AF68345A-01B1-45CF-A2F6-417F9F42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4590288"/>
            <a:ext cx="-640080" cy="-256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49" name="Shape 39">
            <a:extLst xmlns:a="http://schemas.openxmlformats.org/drawingml/2006/main">
              <a:ext uri="{FF2B5EF4-FFF2-40B4-BE49-F238E27FC236}">
                <a16:creationId xmlns:a16="http://schemas.microsoft.com/office/drawing/2014/main" id="{36067268-8EB8-44E7-BFF3-D5DC4590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886200"/>
            <a:ext cx="0" cy="-7955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50" name="Shape 40">
            <a:extLst xmlns:a="http://schemas.openxmlformats.org/drawingml/2006/main">
              <a:ext uri="{FF2B5EF4-FFF2-40B4-BE49-F238E27FC236}">
                <a16:creationId xmlns:a16="http://schemas.microsoft.com/office/drawing/2014/main" id="{D64D7C0C-B552-4762-B031-CE020AC1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304288"/>
            <a:ext cx="411480" cy="-3291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716BC0AE-1B75-473F-B721-58113C5D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首页（找点决策）</a:t>
            </a:r>
          </a:p>
        </p:txBody>
      </p:sp>
      <p:sp>
        <p:nvSpPr>
          <p:cNvPr id="52" name="Text 42">
            <a:extLst xmlns:a="http://schemas.openxmlformats.org/drawingml/2006/main">
              <a:ext uri="{FF2B5EF4-FFF2-40B4-BE49-F238E27FC236}">
                <a16:creationId xmlns:a16="http://schemas.microsoft.com/office/drawing/2014/main" id="{ECAABC29-66C3-4C09-838C-5C89DE9A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828800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社区（交流沉淀）</a:t>
            </a:r>
          </a:p>
        </p:txBody>
      </p:sp>
      <p:sp>
        <p:nvSpPr>
          <p:cNvPr id="53" name="Shape 43">
            <a:extLst xmlns:a="http://schemas.openxmlformats.org/drawingml/2006/main">
              <a:ext uri="{FF2B5EF4-FFF2-40B4-BE49-F238E27FC236}">
                <a16:creationId xmlns:a16="http://schemas.microsoft.com/office/drawing/2014/main" id="{1D2F80DA-E384-49E7-BAAD-6535B4EA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48840"/>
            <a:ext cx="1417320" cy="306324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F1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54" name="Text 44">
            <a:extLst xmlns:a="http://schemas.openxmlformats.org/drawingml/2006/main">
              <a:ext uri="{FF2B5EF4-FFF2-40B4-BE49-F238E27FC236}">
                <a16:creationId xmlns:a16="http://schemas.microsoft.com/office/drawing/2014/main" id="{ACAF97B0-88B6-4FFE-A9FF-4813F326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2313432"/>
            <a:ext cx="108813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55" name="Text 45">
            <a:extLst xmlns:a="http://schemas.openxmlformats.org/drawingml/2006/main">
              <a:ext uri="{FF2B5EF4-FFF2-40B4-BE49-F238E27FC236}">
                <a16:creationId xmlns:a16="http://schemas.microsoft.com/office/drawing/2014/main" id="{2344FC41-5EE1-4530-92A2-AC9A3C85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2459736"/>
            <a:ext cx="1005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</a:t>
            </a:r>
          </a:p>
        </p:txBody>
      </p:sp>
      <p:sp>
        <p:nvSpPr>
          <p:cNvPr id="56" name="Shape 46">
            <a:extLst xmlns:a="http://schemas.openxmlformats.org/drawingml/2006/main">
              <a:ext uri="{FF2B5EF4-FFF2-40B4-BE49-F238E27FC236}">
                <a16:creationId xmlns:a16="http://schemas.microsoft.com/office/drawing/2014/main" id="{311103C0-2E74-4596-AA7B-6F0BA36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2862072"/>
            <a:ext cx="1088136" cy="1143000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57" name="Text 47">
            <a:extLst xmlns:a="http://schemas.openxmlformats.org/drawingml/2006/main">
              <a:ext uri="{FF2B5EF4-FFF2-40B4-BE49-F238E27FC236}">
                <a16:creationId xmlns:a16="http://schemas.microsoft.com/office/drawing/2014/main" id="{1073D2E7-B09C-44F0-AE80-3F98B8FA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99008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武汉</a:t>
            </a:r>
          </a:p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多云 · 26℃</a:t>
            </a:r>
          </a:p>
        </p:txBody>
      </p:sp>
      <p:sp>
        <p:nvSpPr>
          <p:cNvPr id="58" name="Text 48">
            <a:extLst xmlns:a="http://schemas.openxmlformats.org/drawingml/2006/main">
              <a:ext uri="{FF2B5EF4-FFF2-40B4-BE49-F238E27FC236}">
                <a16:creationId xmlns:a16="http://schemas.microsoft.com/office/drawing/2014/main" id="{1E954FB2-FB61-4103-8A1B-2E8EF8E8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99232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4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  <p:sp>
        <p:nvSpPr>
          <p:cNvPr id="59" name="Text 49">
            <a:extLst xmlns:a="http://schemas.openxmlformats.org/drawingml/2006/main">
              <a:ext uri="{FF2B5EF4-FFF2-40B4-BE49-F238E27FC236}">
                <a16:creationId xmlns:a16="http://schemas.microsoft.com/office/drawing/2014/main" id="{2FBF4A59-4335-40B6-B397-258943BA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2862072"/>
            <a:ext cx="6583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适钓指数</a:t>
            </a:r>
          </a:p>
        </p:txBody>
      </p:sp>
      <p:sp>
        <p:nvSpPr>
          <p:cNvPr id="60" name="Shape 50">
            <a:extLst xmlns:a="http://schemas.openxmlformats.org/drawingml/2006/main">
              <a:ext uri="{FF2B5EF4-FFF2-40B4-BE49-F238E27FC236}">
                <a16:creationId xmlns:a16="http://schemas.microsoft.com/office/drawing/2014/main" id="{4D5EF4A6-7803-4934-97E7-FFDF72F3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538728"/>
            <a:ext cx="832104" cy="3200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61" name="Text 51">
            <a:extLst xmlns:a="http://schemas.openxmlformats.org/drawingml/2006/main">
              <a:ext uri="{FF2B5EF4-FFF2-40B4-BE49-F238E27FC236}">
                <a16:creationId xmlns:a16="http://schemas.microsoft.com/office/drawing/2014/main" id="{85A41785-4A02-4C42-B0E5-FE58CC5D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3630168"/>
            <a:ext cx="64922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傍晚 17:00–19:00 更适合出钓</a:t>
            </a:r>
          </a:p>
        </p:txBody>
      </p:sp>
      <p:sp>
        <p:nvSpPr>
          <p:cNvPr id="62" name="Text 52">
            <a:extLst xmlns:a="http://schemas.openxmlformats.org/drawingml/2006/main">
              <a:ext uri="{FF2B5EF4-FFF2-40B4-BE49-F238E27FC236}">
                <a16:creationId xmlns:a16="http://schemas.microsoft.com/office/drawing/2014/main" id="{E979DFD2-A7EA-46A7-B2E2-F0EFE4C6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418795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今日推荐</a:t>
            </a:r>
          </a:p>
        </p:txBody>
      </p:sp>
      <p:sp>
        <p:nvSpPr>
          <p:cNvPr id="63" name="Shape 53">
            <a:extLst xmlns:a="http://schemas.openxmlformats.org/drawingml/2006/main">
              <a:ext uri="{FF2B5EF4-FFF2-40B4-BE49-F238E27FC236}">
                <a16:creationId xmlns:a16="http://schemas.microsoft.com/office/drawing/2014/main" id="{A9C70970-5FA8-4219-BAB9-2710D3E3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4526280"/>
            <a:ext cx="489204" cy="685800"/>
          </a:xfrm>
          <a:prstGeom xmlns:a="http://schemas.openxmlformats.org/drawingml/2006/main" prst="roundRect">
            <a:avLst>
              <a:gd name="adj" fmla="val 22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64" name="Shape 54">
            <a:extLst xmlns:a="http://schemas.openxmlformats.org/drawingml/2006/main">
              <a:ext uri="{FF2B5EF4-FFF2-40B4-BE49-F238E27FC236}">
                <a16:creationId xmlns:a16="http://schemas.microsoft.com/office/drawing/2014/main" id="{4771C83D-422E-4CC1-A5E4-B5D20173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564" y="4526280"/>
            <a:ext cx="489204" cy="685800"/>
          </a:xfrm>
          <a:prstGeom xmlns:a="http://schemas.openxmlformats.org/drawingml/2006/main" prst="roundRect">
            <a:avLst>
              <a:gd name="adj" fmla="val 22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65" name="Text 55">
            <a:extLst xmlns:a="http://schemas.openxmlformats.org/drawingml/2006/main">
              <a:ext uri="{FF2B5EF4-FFF2-40B4-BE49-F238E27FC236}">
                <a16:creationId xmlns:a16="http://schemas.microsoft.com/office/drawing/2014/main" id="{056E4CA1-F59F-4B63-93AB-7D9E1E1D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782312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翘嘴</a:t>
            </a:r>
          </a:p>
        </p:txBody>
      </p:sp>
      <p:sp>
        <p:nvSpPr>
          <p:cNvPr id="66" name="Text 56">
            <a:extLst xmlns:a="http://schemas.openxmlformats.org/drawingml/2006/main">
              <a:ext uri="{FF2B5EF4-FFF2-40B4-BE49-F238E27FC236}">
                <a16:creationId xmlns:a16="http://schemas.microsoft.com/office/drawing/2014/main" id="{568931AA-44C2-41B1-92CA-8D7B2AE0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36" y="4782312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路亚</a:t>
            </a:r>
          </a:p>
        </p:txBody>
      </p:sp>
      <p:sp>
        <p:nvSpPr>
          <p:cNvPr id="67" name="Text 57">
            <a:extLst xmlns:a="http://schemas.openxmlformats.org/drawingml/2006/main">
              <a:ext uri="{FF2B5EF4-FFF2-40B4-BE49-F238E27FC236}">
                <a16:creationId xmlns:a16="http://schemas.microsoft.com/office/drawing/2014/main" id="{405153A1-15F9-4BA3-8AAC-2E0CC90F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68" name="Text 58">
            <a:extLst xmlns:a="http://schemas.openxmlformats.org/drawingml/2006/main">
              <a:ext uri="{FF2B5EF4-FFF2-40B4-BE49-F238E27FC236}">
                <a16:creationId xmlns:a16="http://schemas.microsoft.com/office/drawing/2014/main" id="{7A05358E-AC00-4BC8-9550-D5F9358A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412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69" name="Text 59">
            <a:extLst xmlns:a="http://schemas.openxmlformats.org/drawingml/2006/main">
              <a:ext uri="{FF2B5EF4-FFF2-40B4-BE49-F238E27FC236}">
                <a16:creationId xmlns:a16="http://schemas.microsoft.com/office/drawing/2014/main" id="{FC8D8FBC-8BE7-45EE-BDDD-3C27019D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056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70" name="Text 60">
            <a:extLst xmlns:a="http://schemas.openxmlformats.org/drawingml/2006/main">
              <a:ext uri="{FF2B5EF4-FFF2-40B4-BE49-F238E27FC236}">
                <a16:creationId xmlns:a16="http://schemas.microsoft.com/office/drawing/2014/main" id="{85AFF0AA-3176-4401-B412-2EBF1FC1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71" name="Text 61">
            <a:extLst xmlns:a="http://schemas.openxmlformats.org/drawingml/2006/main">
              <a:ext uri="{FF2B5EF4-FFF2-40B4-BE49-F238E27FC236}">
                <a16:creationId xmlns:a16="http://schemas.microsoft.com/office/drawing/2014/main" id="{2EE43AFC-456B-49F1-BC0E-5E9C17C5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344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技巧</a:t>
            </a:r>
          </a:p>
        </p:txBody>
      </p:sp>
      <p:sp>
        <p:nvSpPr>
          <p:cNvPr id="72" name="Text 62">
            <a:extLst xmlns:a="http://schemas.openxmlformats.org/drawingml/2006/main">
              <a:ext uri="{FF2B5EF4-FFF2-40B4-BE49-F238E27FC236}">
                <a16:creationId xmlns:a16="http://schemas.microsoft.com/office/drawing/2014/main" id="{B7E55F2E-5B50-453B-9486-54A6EC8E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988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73" name="Shape 63">
            <a:extLst xmlns:a="http://schemas.openxmlformats.org/drawingml/2006/main">
              <a:ext uri="{FF2B5EF4-FFF2-40B4-BE49-F238E27FC236}">
                <a16:creationId xmlns:a16="http://schemas.microsoft.com/office/drawing/2014/main" id="{7C13EB51-DF2E-468A-B394-3ABBE01E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48840"/>
            <a:ext cx="1417320" cy="306324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F1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74" name="Text 64">
            <a:extLst xmlns:a="http://schemas.openxmlformats.org/drawingml/2006/main">
              <a:ext uri="{FF2B5EF4-FFF2-40B4-BE49-F238E27FC236}">
                <a16:creationId xmlns:a16="http://schemas.microsoft.com/office/drawing/2014/main" id="{12413CFC-597F-4B89-8A41-9CD7AD24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2313432"/>
            <a:ext cx="108813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75" name="Text 65">
            <a:extLst xmlns:a="http://schemas.openxmlformats.org/drawingml/2006/main">
              <a:ext uri="{FF2B5EF4-FFF2-40B4-BE49-F238E27FC236}">
                <a16:creationId xmlns:a16="http://schemas.microsoft.com/office/drawing/2014/main" id="{4AB16278-8D68-46B8-B9AE-01DDC226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2459736"/>
            <a:ext cx="1005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</a:t>
            </a:r>
          </a:p>
        </p:txBody>
      </p:sp>
      <p:sp>
        <p:nvSpPr>
          <p:cNvPr id="76" name="Shape 66">
            <a:extLst xmlns:a="http://schemas.openxmlformats.org/drawingml/2006/main">
              <a:ext uri="{FF2B5EF4-FFF2-40B4-BE49-F238E27FC236}">
                <a16:creationId xmlns:a16="http://schemas.microsoft.com/office/drawing/2014/main" id="{24A5197A-3A0E-43A3-ACE3-9F47082A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651760"/>
            <a:ext cx="1143000" cy="25603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77" name="Text 67">
            <a:extLst xmlns:a="http://schemas.openxmlformats.org/drawingml/2006/main">
              <a:ext uri="{FF2B5EF4-FFF2-40B4-BE49-F238E27FC236}">
                <a16:creationId xmlns:a16="http://schemas.microsoft.com/office/drawing/2014/main" id="{BFC2A62F-63D6-4E16-BD22-2EF75319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2734056"/>
            <a:ext cx="72237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搜索钓点、鱼种、技巧</a:t>
            </a:r>
          </a:p>
        </p:txBody>
      </p:sp>
      <p:sp>
        <p:nvSpPr>
          <p:cNvPr id="78" name="Shape 68">
            <a:extLst xmlns:a="http://schemas.openxmlformats.org/drawingml/2006/main">
              <a:ext uri="{FF2B5EF4-FFF2-40B4-BE49-F238E27FC236}">
                <a16:creationId xmlns:a16="http://schemas.microsoft.com/office/drawing/2014/main" id="{B311E4B5-FDD2-45AE-96FA-38C16FC0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999232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79" name="Text 69">
            <a:extLst xmlns:a="http://schemas.openxmlformats.org/drawingml/2006/main">
              <a:ext uri="{FF2B5EF4-FFF2-40B4-BE49-F238E27FC236}">
                <a16:creationId xmlns:a16="http://schemas.microsoft.com/office/drawing/2014/main" id="{F1E0AB26-A03D-4D05-871E-3F542E6A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6" y="3044952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推荐</a:t>
            </a:r>
          </a:p>
        </p:txBody>
      </p:sp>
      <p:sp>
        <p:nvSpPr>
          <p:cNvPr id="80" name="Shape 70">
            <a:extLst xmlns:a="http://schemas.openxmlformats.org/drawingml/2006/main">
              <a:ext uri="{FF2B5EF4-FFF2-40B4-BE49-F238E27FC236}">
                <a16:creationId xmlns:a16="http://schemas.microsoft.com/office/drawing/2014/main" id="{B0B6B7B7-77A3-42F3-BD3D-E00AA8A1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2999232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81" name="Text 71">
            <a:extLst xmlns:a="http://schemas.openxmlformats.org/drawingml/2006/main">
              <a:ext uri="{FF2B5EF4-FFF2-40B4-BE49-F238E27FC236}">
                <a16:creationId xmlns:a16="http://schemas.microsoft.com/office/drawing/2014/main" id="{661B5CEA-FB52-418F-B683-88D9983E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3044952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同城</a:t>
            </a:r>
          </a:p>
        </p:txBody>
      </p:sp>
      <p:sp>
        <p:nvSpPr>
          <p:cNvPr id="82" name="Shape 72">
            <a:extLst xmlns:a="http://schemas.openxmlformats.org/drawingml/2006/main">
              <a:ext uri="{FF2B5EF4-FFF2-40B4-BE49-F238E27FC236}">
                <a16:creationId xmlns:a16="http://schemas.microsoft.com/office/drawing/2014/main" id="{53783DA5-4A55-4A2C-9767-C44CF785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2999232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83" name="Text 73">
            <a:extLst xmlns:a="http://schemas.openxmlformats.org/drawingml/2006/main">
              <a:ext uri="{FF2B5EF4-FFF2-40B4-BE49-F238E27FC236}">
                <a16:creationId xmlns:a16="http://schemas.microsoft.com/office/drawing/2014/main" id="{BA8C7088-48A7-4D42-B407-22D42737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044952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关注</a:t>
            </a:r>
          </a:p>
        </p:txBody>
      </p:sp>
      <p:sp>
        <p:nvSpPr>
          <p:cNvPr id="84" name="Shape 74">
            <a:extLst xmlns:a="http://schemas.openxmlformats.org/drawingml/2006/main">
              <a:ext uri="{FF2B5EF4-FFF2-40B4-BE49-F238E27FC236}">
                <a16:creationId xmlns:a16="http://schemas.microsoft.com/office/drawing/2014/main" id="{685F8044-C12A-41BC-8E57-1B201D55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2999232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85" name="Text 75">
            <a:extLst xmlns:a="http://schemas.openxmlformats.org/drawingml/2006/main">
              <a:ext uri="{FF2B5EF4-FFF2-40B4-BE49-F238E27FC236}">
                <a16:creationId xmlns:a16="http://schemas.microsoft.com/office/drawing/2014/main" id="{CC518881-58AB-48A7-A90F-0EA9E631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3152" y="3044952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路亚</a:t>
            </a:r>
          </a:p>
        </p:txBody>
      </p:sp>
      <p:sp>
        <p:nvSpPr>
          <p:cNvPr id="86" name="Shape 76">
            <a:extLst xmlns:a="http://schemas.openxmlformats.org/drawingml/2006/main">
              <a:ext uri="{FF2B5EF4-FFF2-40B4-BE49-F238E27FC236}">
                <a16:creationId xmlns:a16="http://schemas.microsoft.com/office/drawing/2014/main" id="{6C3B2314-702F-4842-9951-D77B8D03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3264408"/>
            <a:ext cx="480060" cy="128016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87" name="Shape 77">
            <a:extLst xmlns:a="http://schemas.openxmlformats.org/drawingml/2006/main">
              <a:ext uri="{FF2B5EF4-FFF2-40B4-BE49-F238E27FC236}">
                <a16:creationId xmlns:a16="http://schemas.microsoft.com/office/drawing/2014/main" id="{F4B41811-BCDD-4C33-B04C-C65830C2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3264408"/>
            <a:ext cx="4800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F9"/>
          </a:solidFill>
          <a:ln xmlns:a="http://schemas.openxmlformats.org/drawingml/2006/main" w="12700">
            <a:solidFill>
              <a:srgbClr val="D9EBF9"/>
            </a:solidFill>
            <a:prstDash val="solid"/>
          </a:ln>
        </p:spPr>
      </p:sp>
      <p:sp>
        <p:nvSpPr>
          <p:cNvPr id="88" name="Text 78">
            <a:extLst xmlns:a="http://schemas.openxmlformats.org/drawingml/2006/main">
              <a:ext uri="{FF2B5EF4-FFF2-40B4-BE49-F238E27FC236}">
                <a16:creationId xmlns:a16="http://schemas.microsoft.com/office/drawing/2014/main" id="{ABA8828B-209B-413C-970A-E552AA58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050792"/>
            <a:ext cx="3703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傍晚窗口 40 分钟</a:t>
            </a:r>
          </a:p>
        </p:txBody>
      </p:sp>
      <p:sp>
        <p:nvSpPr>
          <p:cNvPr id="89" name="Text 79">
            <a:extLst xmlns:a="http://schemas.openxmlformats.org/drawingml/2006/main">
              <a:ext uri="{FF2B5EF4-FFF2-40B4-BE49-F238E27FC236}">
                <a16:creationId xmlns:a16="http://schemas.microsoft.com/office/drawing/2014/main" id="{066B82DB-4BEB-499F-A322-2CA02294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288536"/>
            <a:ext cx="37033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90" name="Shape 80">
            <a:extLst xmlns:a="http://schemas.openxmlformats.org/drawingml/2006/main">
              <a:ext uri="{FF2B5EF4-FFF2-40B4-BE49-F238E27FC236}">
                <a16:creationId xmlns:a16="http://schemas.microsoft.com/office/drawing/2014/main" id="{FEF48658-3B06-454A-AF9C-81ED3EE1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340" y="3264408"/>
            <a:ext cx="480060" cy="128016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91" name="Shape 81">
            <a:extLst xmlns:a="http://schemas.openxmlformats.org/drawingml/2006/main">
              <a:ext uri="{FF2B5EF4-FFF2-40B4-BE49-F238E27FC236}">
                <a16:creationId xmlns:a16="http://schemas.microsoft.com/office/drawing/2014/main" id="{E6AA54EB-FF40-4839-8C18-E0013E5D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340" y="3264408"/>
            <a:ext cx="4800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2700">
            <a:solidFill>
              <a:srgbClr val="E7EEF5"/>
            </a:solidFill>
            <a:prstDash val="solid"/>
          </a:ln>
        </p:spPr>
      </p:sp>
      <p:sp>
        <p:nvSpPr>
          <p:cNvPr id="92" name="Text 82">
            <a:extLst xmlns:a="http://schemas.openxmlformats.org/drawingml/2006/main">
              <a:ext uri="{FF2B5EF4-FFF2-40B4-BE49-F238E27FC236}">
                <a16:creationId xmlns:a16="http://schemas.microsoft.com/office/drawing/2014/main" id="{A57105E8-7BE7-4846-95B8-FE9A1209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204" y="4050792"/>
            <a:ext cx="3703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东湖早口不错</a:t>
            </a:r>
          </a:p>
        </p:txBody>
      </p:sp>
      <p:sp>
        <p:nvSpPr>
          <p:cNvPr id="93" name="Text 83">
            <a:extLst xmlns:a="http://schemas.openxmlformats.org/drawingml/2006/main">
              <a:ext uri="{FF2B5EF4-FFF2-40B4-BE49-F238E27FC236}">
                <a16:creationId xmlns:a16="http://schemas.microsoft.com/office/drawing/2014/main" id="{47A565F1-AE98-4741-8A9C-6CCFAC70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204" y="4288536"/>
            <a:ext cx="37033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94" name="Shape 84">
            <a:extLst xmlns:a="http://schemas.openxmlformats.org/drawingml/2006/main">
              <a:ext uri="{FF2B5EF4-FFF2-40B4-BE49-F238E27FC236}">
                <a16:creationId xmlns:a16="http://schemas.microsoft.com/office/drawing/2014/main" id="{FFF4BBE6-5EC2-43AD-A40D-82E3908E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4681728"/>
            <a:ext cx="480060" cy="128016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95" name="Shape 85">
            <a:extLst xmlns:a="http://schemas.openxmlformats.org/drawingml/2006/main">
              <a:ext uri="{FF2B5EF4-FFF2-40B4-BE49-F238E27FC236}">
                <a16:creationId xmlns:a16="http://schemas.microsoft.com/office/drawing/2014/main" id="{2D44734D-29BE-406E-9A41-A7C51770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4681728"/>
            <a:ext cx="4800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2700">
            <a:solidFill>
              <a:srgbClr val="E7EEF5"/>
            </a:solidFill>
            <a:prstDash val="solid"/>
          </a:ln>
        </p:spPr>
      </p:sp>
      <p:sp>
        <p:nvSpPr>
          <p:cNvPr id="96" name="Text 86">
            <a:extLst xmlns:a="http://schemas.openxmlformats.org/drawingml/2006/main">
              <a:ext uri="{FF2B5EF4-FFF2-40B4-BE49-F238E27FC236}">
                <a16:creationId xmlns:a16="http://schemas.microsoft.com/office/drawing/2014/main" id="{06FDE746-8E0C-41B9-9378-751F18AA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5468112"/>
            <a:ext cx="3703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傍晚窗口 40 分钟</a:t>
            </a:r>
          </a:p>
        </p:txBody>
      </p:sp>
      <p:sp>
        <p:nvSpPr>
          <p:cNvPr id="97" name="Text 87">
            <a:extLst xmlns:a="http://schemas.openxmlformats.org/drawingml/2006/main">
              <a:ext uri="{FF2B5EF4-FFF2-40B4-BE49-F238E27FC236}">
                <a16:creationId xmlns:a16="http://schemas.microsoft.com/office/drawing/2014/main" id="{4C9792E6-FB1E-4FAF-8198-8AC1356F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5705856"/>
            <a:ext cx="37033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98" name="Shape 88">
            <a:extLst xmlns:a="http://schemas.openxmlformats.org/drawingml/2006/main">
              <a:ext uri="{FF2B5EF4-FFF2-40B4-BE49-F238E27FC236}">
                <a16:creationId xmlns:a16="http://schemas.microsoft.com/office/drawing/2014/main" id="{21823BBB-C024-4FC6-A905-FE1C7215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340" y="4681728"/>
            <a:ext cx="480060" cy="128016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99" name="Shape 89">
            <a:extLst xmlns:a="http://schemas.openxmlformats.org/drawingml/2006/main">
              <a:ext uri="{FF2B5EF4-FFF2-40B4-BE49-F238E27FC236}">
                <a16:creationId xmlns:a16="http://schemas.microsoft.com/office/drawing/2014/main" id="{71D73017-9302-4DEB-9444-E6CF8332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340" y="4681728"/>
            <a:ext cx="4800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2700">
            <a:solidFill>
              <a:srgbClr val="E7EEF5"/>
            </a:solidFill>
            <a:prstDash val="solid"/>
          </a:ln>
        </p:spPr>
      </p:sp>
      <p:sp>
        <p:nvSpPr>
          <p:cNvPr id="100" name="Text 90">
            <a:extLst xmlns:a="http://schemas.openxmlformats.org/drawingml/2006/main">
              <a:ext uri="{FF2B5EF4-FFF2-40B4-BE49-F238E27FC236}">
                <a16:creationId xmlns:a16="http://schemas.microsoft.com/office/drawing/2014/main" id="{6235B456-EEF9-47B2-A17A-8CB06FEC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204" y="5468112"/>
            <a:ext cx="3703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东湖早口不错</a:t>
            </a:r>
          </a:p>
        </p:txBody>
      </p:sp>
      <p:sp>
        <p:nvSpPr>
          <p:cNvPr id="101" name="Text 91">
            <a:extLst xmlns:a="http://schemas.openxmlformats.org/drawingml/2006/main">
              <a:ext uri="{FF2B5EF4-FFF2-40B4-BE49-F238E27FC236}">
                <a16:creationId xmlns:a16="http://schemas.microsoft.com/office/drawing/2014/main" id="{E3E181DC-5735-43FA-98D6-235D120A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204" y="5705856"/>
            <a:ext cx="37033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102" name="Text 92">
            <a:extLst xmlns:a="http://schemas.openxmlformats.org/drawingml/2006/main">
              <a:ext uri="{FF2B5EF4-FFF2-40B4-BE49-F238E27FC236}">
                <a16:creationId xmlns:a16="http://schemas.microsoft.com/office/drawing/2014/main" id="{B2BE22A1-824D-4F54-86B0-F90FC81B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103" name="Text 93">
            <a:extLst xmlns:a="http://schemas.openxmlformats.org/drawingml/2006/main">
              <a:ext uri="{FF2B5EF4-FFF2-40B4-BE49-F238E27FC236}">
                <a16:creationId xmlns:a16="http://schemas.microsoft.com/office/drawing/2014/main" id="{7A52B64C-7ED5-4F53-8C7C-7B396799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052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104" name="Text 94">
            <a:extLst xmlns:a="http://schemas.openxmlformats.org/drawingml/2006/main">
              <a:ext uri="{FF2B5EF4-FFF2-40B4-BE49-F238E27FC236}">
                <a16:creationId xmlns:a16="http://schemas.microsoft.com/office/drawing/2014/main" id="{EA52F878-79D0-4562-9A9F-87CD08FA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696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105" name="Text 95">
            <a:extLst xmlns:a="http://schemas.openxmlformats.org/drawingml/2006/main">
              <a:ext uri="{FF2B5EF4-FFF2-40B4-BE49-F238E27FC236}">
                <a16:creationId xmlns:a16="http://schemas.microsoft.com/office/drawing/2014/main" id="{6ED06451-8C56-4966-BF02-3A1B66DD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340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106" name="Text 96">
            <a:extLst xmlns:a="http://schemas.openxmlformats.org/drawingml/2006/main">
              <a:ext uri="{FF2B5EF4-FFF2-40B4-BE49-F238E27FC236}">
                <a16:creationId xmlns:a16="http://schemas.microsoft.com/office/drawing/2014/main" id="{D760272A-3272-4D5E-84A2-448A5E12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984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技巧</a:t>
            </a:r>
          </a:p>
        </p:txBody>
      </p:sp>
      <p:sp>
        <p:nvSpPr>
          <p:cNvPr id="107" name="Text 97">
            <a:extLst xmlns:a="http://schemas.openxmlformats.org/drawingml/2006/main">
              <a:ext uri="{FF2B5EF4-FFF2-40B4-BE49-F238E27FC236}">
                <a16:creationId xmlns:a16="http://schemas.microsoft.com/office/drawing/2014/main" id="{DD2F17D0-7699-4721-B10A-F344C904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628" y="4901184"/>
            <a:ext cx="1996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108" name="Text 98">
            <a:extLst xmlns:a="http://schemas.openxmlformats.org/drawingml/2006/main">
              <a:ext uri="{FF2B5EF4-FFF2-40B4-BE49-F238E27FC236}">
                <a16:creationId xmlns:a16="http://schemas.microsoft.com/office/drawing/2014/main" id="{524E6055-2F23-46FF-B3F1-DF5BF2DA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961888"/>
            <a:ext cx="5303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从空间发现开始，沉淀真实内容，反哺数据与推荐。</a:t>
            </a:r>
          </a:p>
        </p:txBody>
      </p:sp>
    </p:spTree>
    <p:extLst>
      <p:ext uri="{BB962C8B-B14F-4D97-AF65-F5344CB8AC3E}">
        <p14:creationId xmlns:p14="http://schemas.microsoft.com/office/powerpoint/2010/main" val="1969472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BC1E5C-A9CD-49E9-ACCD-7A658630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8B1FF4-358F-4729-83A9-43FDC967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E42B59D-7554-488A-A925-B8F48F04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FCEF71D-2193-46C4-AC5D-88C9559E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E41034A-661D-4FAD-899E-7BDFAA5A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D599008-1F91-4648-A5EA-6CB3FB5B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3C53AC0-0FF1-45A4-A19D-1A8D53B8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D67B23D-26BB-4B41-B805-417AEBE3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04C767A-48CD-41AA-A476-B1E6C2BD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首页：地图即首页的出钓决策入口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F37569-BE0D-4D39-A820-83CD205A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从天气判断 → 地图找点 → 推荐解释 → 详情查看，一站式完成出钓决策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45FD773-2BD6-40AA-BEDB-41D4CE6D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1965960" cy="429768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F1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D1C3D33-D979-48D1-9263-8332BC17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93392"/>
            <a:ext cx="16367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8964C1C-BB5E-4870-8E0B-09B2AD06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39696"/>
            <a:ext cx="1005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5F2474B-3907-4A11-BF5B-B22A1633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542032"/>
            <a:ext cx="1636776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DE598E5-63CB-46C1-8304-9DAEA9AA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67004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武汉</a:t>
            </a:r>
          </a:p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多云 · 26℃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3F1C080-FA21-4A72-99D7-40EA2D00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79192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4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ECD169E-0258-4ACE-BF16-B9013094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2542032"/>
            <a:ext cx="65836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适钓指数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1883F47-A26B-4CBD-95AB-1287810D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218688"/>
            <a:ext cx="1380744" cy="3200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94D2973-15AA-464C-BF60-E56D8CAB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3310128"/>
            <a:ext cx="119786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傍晚 17:00–19:00 更适合出钓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B24113E-A81F-4DCA-ACA1-EB5948DD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86791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今日推荐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25FB412-7CD6-4329-978C-86FA105F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06240"/>
            <a:ext cx="763524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F303288-C9A7-42BD-816B-2A214F52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084" y="4206240"/>
            <a:ext cx="763524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A4396EE-BFEE-452F-844A-1A75F218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462272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翘嘴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47A70AC-0833-4316-AF9D-5840DF18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956" y="4462272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路亚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FA3EDA3-8890-436D-B65A-794A4FC8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8E4AFA4-2AA9-4B23-8CB7-72A155CB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052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8850C66-4985-41E9-9D26-7B2FCC38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36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54CA00D-A7C7-4512-B36F-55A6A185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CDA116D-7FAB-4F49-87FF-4BAA6188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304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技巧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B05D195-30E3-41D1-9A45-F233736B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388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0ED096C-186F-4A7C-A7B4-1824EA9D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828800"/>
            <a:ext cx="1965960" cy="429768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F1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0017F04-3C99-43C5-873F-C929E503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993392"/>
            <a:ext cx="16367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2FAC73A-F66C-4EF2-8FB7-681E4325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139696"/>
            <a:ext cx="1005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8AB4C5F-C112-45E9-873D-0B1E80F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487168"/>
            <a:ext cx="1636776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3FE4C9E-CAD2-484A-80AD-187F3B5C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2578608"/>
            <a:ext cx="112471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搜索水库、河流、钓场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921B8C1-DA58-4B64-87D8-0981B41F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889504"/>
            <a:ext cx="1636776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7B4F77B5-D8C5-48C6-B8A0-A28040AD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7362CD47-3025-450E-8059-52B67CDD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46120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BC85A4AA-C637-4597-9302-81FA910C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474720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0A9B2BC-3470-428A-8564-9B97C164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03320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9C9C7F06-4C70-494F-BE16-3E77135E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931920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172F82E-8586-427B-9282-5F15798E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60520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9348ACE9-D283-4CF2-8E41-431CB3B9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389120"/>
            <a:ext cx="146304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5C15A">
                <a:alpha val="7500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DEEA000E-C4C0-40EE-9481-90CF3E0D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33756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8557B919-5A10-4C7A-9057-81A0A7B2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410712"/>
            <a:ext cx="29260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3EA9532F-7CC2-4896-AA88-5E1A9DA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033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3AE3187D-386B-4169-B2E2-DB18F14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6472"/>
            <a:ext cx="29260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BFF9FD50-F5BC-40CE-9FE4-C566CA83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5196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12700">
            <a:solidFill>
              <a:srgbClr val="FF9F1C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CE593C45-73DF-437F-8EFD-0335E9C3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325112"/>
            <a:ext cx="29260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17DB1855-D1A7-48DD-A96B-ABD99B5C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3017520"/>
            <a:ext cx="134416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2D3D">
              <a:alpha val="90000"/>
            </a:srgbClr>
          </a:solidFill>
          <a:ln xmlns:a="http://schemas.openxmlformats.org/drawingml/2006/main" w="12700">
            <a:solidFill>
              <a:srgbClr val="1F2D3D">
                <a:alpha val="0"/>
              </a:srgbClr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B9472091-3403-4985-822B-082228DE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099816"/>
            <a:ext cx="11612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多云 · 26℃ · 西南风 2级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02BBA2C4-D47C-4D76-81AD-879B3AEE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5376672"/>
            <a:ext cx="134416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4B7DC62A-EAB7-4000-970F-9BBAC7C3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504688"/>
            <a:ext cx="108813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今日推荐：东湖听涛野钓点</a:t>
            </a:r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DDF9A56C-FC6C-4396-82A1-E105C449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812F4D5-7185-4C7A-B5ED-CA90AF37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052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604A0C9D-6767-44C2-A6DB-4BAE3734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36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DE7226D5-D554-4D85-BBBA-9AC9934A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220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CD4BA5EA-A155-4217-8718-36A83D4A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304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技巧</a:t>
            </a:r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C636CB83-D344-4561-9E4C-5F3274C0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388" y="5815584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604CCC34-97FE-4972-A13D-D5FB78F9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828800"/>
            <a:ext cx="1874520" cy="429768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F1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C27CC4E5-EF41-477E-BA88-515A7F2E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1993392"/>
            <a:ext cx="154533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3E1122DB-2680-4FB2-A755-01443E8E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139696"/>
            <a:ext cx="1005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</a:t>
            </a:r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AB9EEAE6-6F63-461E-9D64-AF3A7DEF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514600"/>
            <a:ext cx="1545336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3"/>
          </a:solidFill>
          <a:ln xmlns:a="http://schemas.openxmlformats.org/drawingml/2006/main" w="12700">
            <a:solidFill>
              <a:srgbClr val="DDE8F3"/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2AA77AD5-520A-488B-86BE-A2D79AB9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2615184"/>
            <a:ext cx="347472" cy="173736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098BD4E8-5E48-4BA1-AC4F-2E437C98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660904"/>
            <a:ext cx="2743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野钓</a:t>
            </a:r>
          </a:p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E8DC0557-562B-4393-BB2F-99F73A77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3127248"/>
            <a:ext cx="1289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东湖听涛野钓点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9797FBA4-72CF-41C3-9879-989452A6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730752"/>
            <a:ext cx="530352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热度 89</a:t>
            </a:r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0DF9BD9B-6B58-44A9-B5D6-41C0C3D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3703320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2.4km · 近7天18条鱼获</a:t>
            </a:r>
          </a:p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37378B27-BCC0-4181-9EE5-783BD2A6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3986784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风力 2 级，上午窗口较好</a:t>
            </a:r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C0EAA74E-3CB6-4697-9CFF-94E3566D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4361688"/>
            <a:ext cx="356616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53618584-5CFE-4725-85C3-93BD813C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407408"/>
            <a:ext cx="283464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鲫鱼</a:t>
            </a:r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4C8C77B6-D5F2-4B34-BB4A-B1361BB3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4361688"/>
            <a:ext cx="356616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A84F10AC-1129-4A3F-9622-AAA36D75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4407408"/>
            <a:ext cx="283464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翘嘴</a:t>
            </a:r>
          </a:p>
        </p:txBody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B4F420F4-6C38-44F1-934C-C4AF712C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361688"/>
            <a:ext cx="356616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96AEBB1E-AF3C-4468-8279-1F8745E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07408"/>
            <a:ext cx="283464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鳊鱼</a:t>
            </a:r>
          </a:p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B15B8AC4-E156-430F-A2D3-68C2A1D8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5815584"/>
            <a:ext cx="2758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ED178824-A5F2-44AE-90DF-50B9AE44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812" y="5815584"/>
            <a:ext cx="2758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3E7C9683-6B0F-4179-B4C9-9AB2E34F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656" y="5815584"/>
            <a:ext cx="2758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F213F04D-6820-41DB-9834-FBDCAA43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15584"/>
            <a:ext cx="2758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905AB3B9-C263-4AA5-A4EC-662357E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344" y="5815584"/>
            <a:ext cx="2758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技巧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21D7C35D-3ED0-4D8D-8724-AFF36DE8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188" y="5815584"/>
            <a:ext cx="2758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348F3D68-7A24-4F65-BCE2-103B2C32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874520"/>
            <a:ext cx="352044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09F47989-2979-49FA-A4EB-5E061C4F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20391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8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4f2e8716c4a91">
            <a:extLst>
              <a:ext uri="{96DAC541-7B7A-43D3-8B79-37D633B846F1}">
                <asvg:svgBlip xmlns:asvg="http://schemas.microsoft.com/office/drawing/2016/SVG/main" r:embed="R8ffb526b05b9445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7619" y="2127443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86" name="Text 83">
            <a:extLst xmlns:a="http://schemas.openxmlformats.org/drawingml/2006/main">
              <a:ext uri="{FF2B5EF4-FFF2-40B4-BE49-F238E27FC236}">
                <a16:creationId xmlns:a16="http://schemas.microsoft.com/office/drawing/2014/main" id="{168370E7-929E-49F5-AA42-57CB88AA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03911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天气判断</a:t>
            </a:r>
          </a:p>
        </p:txBody>
      </p:sp>
      <p:sp>
        <p:nvSpPr>
          <p:cNvPr id="87" name="Text 84">
            <a:extLst xmlns:a="http://schemas.openxmlformats.org/drawingml/2006/main">
              <a:ext uri="{FF2B5EF4-FFF2-40B4-BE49-F238E27FC236}">
                <a16:creationId xmlns:a16="http://schemas.microsoft.com/office/drawing/2014/main" id="{EA6D44B4-E456-44C4-A39B-B6FD0E94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304288"/>
            <a:ext cx="23774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实时天气与适钓指数</a:t>
            </a:r>
          </a:p>
        </p:txBody>
      </p:sp>
      <p:sp>
        <p:nvSpPr>
          <p:cNvPr id="88" name="Shape 85">
            <a:extLst xmlns:a="http://schemas.openxmlformats.org/drawingml/2006/main">
              <a:ext uri="{FF2B5EF4-FFF2-40B4-BE49-F238E27FC236}">
                <a16:creationId xmlns:a16="http://schemas.microsoft.com/office/drawing/2014/main" id="{FAEE138B-7CB2-4D63-9CB4-E53BE32D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34640"/>
            <a:ext cx="352044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89" name="Shape 86">
            <a:extLst xmlns:a="http://schemas.openxmlformats.org/drawingml/2006/main">
              <a:ext uri="{FF2B5EF4-FFF2-40B4-BE49-F238E27FC236}">
                <a16:creationId xmlns:a16="http://schemas.microsoft.com/office/drawing/2014/main" id="{87DCFEA1-A1F0-4B36-B085-A164135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29992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9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fd8c6b1ec449c">
            <a:extLst>
              <a:ext uri="{96DAC541-7B7A-43D3-8B79-37D633B846F1}">
                <asvg:svgBlip xmlns:asvg="http://schemas.microsoft.com/office/drawing/2016/SVG/main" r:embed="R4781607380df47e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7619" y="3087563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91" name="Text 87">
            <a:extLst xmlns:a="http://schemas.openxmlformats.org/drawingml/2006/main">
              <a:ext uri="{FF2B5EF4-FFF2-40B4-BE49-F238E27FC236}">
                <a16:creationId xmlns:a16="http://schemas.microsoft.com/office/drawing/2014/main" id="{255C6ED0-4B01-41E6-BECC-9E704F01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99923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附近钓点</a:t>
            </a:r>
          </a:p>
        </p:txBody>
      </p:sp>
      <p:sp>
        <p:nvSpPr>
          <p:cNvPr id="92" name="Text 88">
            <a:extLst xmlns:a="http://schemas.openxmlformats.org/drawingml/2006/main">
              <a:ext uri="{FF2B5EF4-FFF2-40B4-BE49-F238E27FC236}">
                <a16:creationId xmlns:a16="http://schemas.microsoft.com/office/drawing/2014/main" id="{7D909E66-DD1F-4877-A018-4CA7DAD1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264408"/>
            <a:ext cx="23774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专题 POI 地图快速找点</a:t>
            </a:r>
          </a:p>
        </p:txBody>
      </p:sp>
      <p:sp>
        <p:nvSpPr>
          <p:cNvPr id="93" name="Shape 89">
            <a:extLst xmlns:a="http://schemas.openxmlformats.org/drawingml/2006/main">
              <a:ext uri="{FF2B5EF4-FFF2-40B4-BE49-F238E27FC236}">
                <a16:creationId xmlns:a16="http://schemas.microsoft.com/office/drawing/2014/main" id="{EED062AD-9800-4FEE-87C5-3CC67684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794760"/>
            <a:ext cx="352044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94" name="Shape 90">
            <a:extLst xmlns:a="http://schemas.openxmlformats.org/drawingml/2006/main">
              <a:ext uri="{FF2B5EF4-FFF2-40B4-BE49-F238E27FC236}">
                <a16:creationId xmlns:a16="http://schemas.microsoft.com/office/drawing/2014/main" id="{244C17D5-A103-4EB6-9293-B9E48A9F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39593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9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b9da609234a19">
            <a:extLst>
              <a:ext uri="{96DAC541-7B7A-43D3-8B79-37D633B846F1}">
                <asvg:svgBlip xmlns:asvg="http://schemas.microsoft.com/office/drawing/2016/SVG/main" r:embed="Re0bf12598f8f43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7619" y="4047683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96" name="Text 91">
            <a:extLst xmlns:a="http://schemas.openxmlformats.org/drawingml/2006/main">
              <a:ext uri="{FF2B5EF4-FFF2-40B4-BE49-F238E27FC236}">
                <a16:creationId xmlns:a16="http://schemas.microsoft.com/office/drawing/2014/main" id="{C941CDBE-FE3D-48E6-9A2B-3D81675F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9593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今日推荐</a:t>
            </a:r>
          </a:p>
        </p:txBody>
      </p:sp>
      <p:sp>
        <p:nvSpPr>
          <p:cNvPr id="97" name="Text 92">
            <a:extLst xmlns:a="http://schemas.openxmlformats.org/drawingml/2006/main">
              <a:ext uri="{FF2B5EF4-FFF2-40B4-BE49-F238E27FC236}">
                <a16:creationId xmlns:a16="http://schemas.microsoft.com/office/drawing/2014/main" id="{AC975C52-7716-4DA7-9D02-E1CF2F64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224528"/>
            <a:ext cx="23774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基于天气与时段智能推荐</a:t>
            </a:r>
          </a:p>
        </p:txBody>
      </p:sp>
      <p:sp>
        <p:nvSpPr>
          <p:cNvPr id="98" name="Shape 93">
            <a:extLst xmlns:a="http://schemas.openxmlformats.org/drawingml/2006/main">
              <a:ext uri="{FF2B5EF4-FFF2-40B4-BE49-F238E27FC236}">
                <a16:creationId xmlns:a16="http://schemas.microsoft.com/office/drawing/2014/main" id="{893DB037-2A13-49BB-B650-AC7D22F9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754880"/>
            <a:ext cx="352044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99" name="Shape 94">
            <a:extLst xmlns:a="http://schemas.openxmlformats.org/drawingml/2006/main">
              <a:ext uri="{FF2B5EF4-FFF2-40B4-BE49-F238E27FC236}">
                <a16:creationId xmlns:a16="http://schemas.microsoft.com/office/drawing/2014/main" id="{592C3DE4-AD24-4BF1-990F-C66EABB7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491947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0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64886d2d0453b">
            <a:extLst>
              <a:ext uri="{96DAC541-7B7A-43D3-8B79-37D633B846F1}">
                <asvg:svgBlip xmlns:asvg="http://schemas.microsoft.com/office/drawing/2016/SVG/main" r:embed="R64a227bd788c4a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7619" y="5007803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101" name="Text 95">
            <a:extLst xmlns:a="http://schemas.openxmlformats.org/drawingml/2006/main">
              <a:ext uri="{FF2B5EF4-FFF2-40B4-BE49-F238E27FC236}">
                <a16:creationId xmlns:a16="http://schemas.microsoft.com/office/drawing/2014/main" id="{E5F9D82E-8E9C-4CE8-B5F8-2EB473ED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91947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钓点详情</a:t>
            </a:r>
          </a:p>
        </p:txBody>
      </p:sp>
      <p:sp>
        <p:nvSpPr>
          <p:cNvPr id="102" name="Text 96">
            <a:extLst xmlns:a="http://schemas.openxmlformats.org/drawingml/2006/main">
              <a:ext uri="{FF2B5EF4-FFF2-40B4-BE49-F238E27FC236}">
                <a16:creationId xmlns:a16="http://schemas.microsoft.com/office/drawing/2014/main" id="{F0BB8AD4-27A0-472B-83F0-A84F3829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184648"/>
            <a:ext cx="23774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查看热度、鱼情与钓友评价</a:t>
            </a:r>
          </a:p>
        </p:txBody>
      </p:sp>
      <p:sp>
        <p:nvSpPr>
          <p:cNvPr id="103" name="Shape 97">
            <a:extLst xmlns:a="http://schemas.openxmlformats.org/drawingml/2006/main">
              <a:ext uri="{FF2B5EF4-FFF2-40B4-BE49-F238E27FC236}">
                <a16:creationId xmlns:a16="http://schemas.microsoft.com/office/drawing/2014/main" id="{67F79245-60EC-46BD-9B6B-1F1C3A5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0760"/>
            <a:ext cx="1627632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04" name="Shape 98">
            <a:extLst xmlns:a="http://schemas.openxmlformats.org/drawingml/2006/main">
              <a:ext uri="{FF2B5EF4-FFF2-40B4-BE49-F238E27FC236}">
                <a16:creationId xmlns:a16="http://schemas.microsoft.com/office/drawing/2014/main" id="{1860D537-965F-4499-90AD-3693638F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61904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0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302df93a14a65">
            <a:extLst>
              <a:ext uri="{96DAC541-7B7A-43D3-8B79-37D633B846F1}">
                <asvg:svgBlip xmlns:asvg="http://schemas.microsoft.com/office/drawing/2016/SVG/main" r:embed="R8f79cae123d2425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5447" y="6270407"/>
            <a:ext cx="187635" cy="187635"/>
          </a:xfrm>
          <a:prstGeom xmlns:a="http://schemas.openxmlformats.org/drawingml/2006/main" prst="rect">
            <a:avLst/>
          </a:prstGeom>
        </p:spPr>
      </p:pic>
      <p:sp>
        <p:nvSpPr>
          <p:cNvPr id="106" name="Text 99">
            <a:extLst xmlns:a="http://schemas.openxmlformats.org/drawingml/2006/main">
              <a:ext uri="{FF2B5EF4-FFF2-40B4-BE49-F238E27FC236}">
                <a16:creationId xmlns:a16="http://schemas.microsoft.com/office/drawing/2014/main" id="{85B5206F-F3F9-4DAB-A154-0A5F39A4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6281928"/>
            <a:ext cx="9875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天气判断</a:t>
            </a:r>
          </a:p>
        </p:txBody>
      </p:sp>
      <p:sp>
        <p:nvSpPr>
          <p:cNvPr id="107" name="Shape 100">
            <a:extLst xmlns:a="http://schemas.openxmlformats.org/drawingml/2006/main">
              <a:ext uri="{FF2B5EF4-FFF2-40B4-BE49-F238E27FC236}">
                <a16:creationId xmlns:a16="http://schemas.microsoft.com/office/drawing/2014/main" id="{9F49FF28-BE8E-4A1E-BA29-5CDCEA68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6364224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108" name="Shape 101">
            <a:extLst xmlns:a="http://schemas.openxmlformats.org/drawingml/2006/main">
              <a:ext uri="{FF2B5EF4-FFF2-40B4-BE49-F238E27FC236}">
                <a16:creationId xmlns:a16="http://schemas.microsoft.com/office/drawing/2014/main" id="{8AB82597-8FA7-4001-ACD4-54E03FDE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6080760"/>
            <a:ext cx="1627632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09" name="Shape 102">
            <a:extLst xmlns:a="http://schemas.openxmlformats.org/drawingml/2006/main">
              <a:ext uri="{FF2B5EF4-FFF2-40B4-BE49-F238E27FC236}">
                <a16:creationId xmlns:a16="http://schemas.microsoft.com/office/drawing/2014/main" id="{6D460C2C-C6B5-4E07-9D61-39870346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61904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1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05b4067244b47">
            <a:extLst>
              <a:ext uri="{96DAC541-7B7A-43D3-8B79-37D633B846F1}">
                <asvg:svgBlip xmlns:asvg="http://schemas.microsoft.com/office/drawing/2016/SVG/main" r:embed="R70508a073b744fd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15727" y="6270407"/>
            <a:ext cx="187635" cy="187635"/>
          </a:xfrm>
          <a:prstGeom xmlns:a="http://schemas.openxmlformats.org/drawingml/2006/main" prst="rect">
            <a:avLst/>
          </a:prstGeom>
        </p:spPr>
      </p:pic>
      <p:sp>
        <p:nvSpPr>
          <p:cNvPr id="111" name="Text 103">
            <a:extLst xmlns:a="http://schemas.openxmlformats.org/drawingml/2006/main">
              <a:ext uri="{FF2B5EF4-FFF2-40B4-BE49-F238E27FC236}">
                <a16:creationId xmlns:a16="http://schemas.microsoft.com/office/drawing/2014/main" id="{453B0E55-CAAD-4CBE-9C4A-5BC99289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6281928"/>
            <a:ext cx="9875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地图找点</a:t>
            </a:r>
          </a:p>
        </p:txBody>
      </p:sp>
      <p:sp>
        <p:nvSpPr>
          <p:cNvPr id="112" name="Shape 104">
            <a:extLst xmlns:a="http://schemas.openxmlformats.org/drawingml/2006/main">
              <a:ext uri="{FF2B5EF4-FFF2-40B4-BE49-F238E27FC236}">
                <a16:creationId xmlns:a16="http://schemas.microsoft.com/office/drawing/2014/main" id="{CAC4EF7E-0D63-4AFA-A349-D520818B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6364224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113" name="Shape 105">
            <a:extLst xmlns:a="http://schemas.openxmlformats.org/drawingml/2006/main">
              <a:ext uri="{FF2B5EF4-FFF2-40B4-BE49-F238E27FC236}">
                <a16:creationId xmlns:a16="http://schemas.microsoft.com/office/drawing/2014/main" id="{0D4101C9-DEE7-4C93-BBC9-E565C054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6080760"/>
            <a:ext cx="1627632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14" name="Shape 106">
            <a:extLst xmlns:a="http://schemas.openxmlformats.org/drawingml/2006/main">
              <a:ext uri="{FF2B5EF4-FFF2-40B4-BE49-F238E27FC236}">
                <a16:creationId xmlns:a16="http://schemas.microsoft.com/office/drawing/2014/main" id="{058B0A99-0A13-4559-A27C-2E7A9315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61904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1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e8a7719d34c53">
            <a:extLst>
              <a:ext uri="{96DAC541-7B7A-43D3-8B79-37D633B846F1}">
                <asvg:svgBlip xmlns:asvg="http://schemas.microsoft.com/office/drawing/2016/SVG/main" r:embed="Ra1f9ffcee86c43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6007" y="6270407"/>
            <a:ext cx="187635" cy="187635"/>
          </a:xfrm>
          <a:prstGeom xmlns:a="http://schemas.openxmlformats.org/drawingml/2006/main" prst="rect">
            <a:avLst/>
          </a:prstGeom>
        </p:spPr>
      </p:pic>
      <p:sp>
        <p:nvSpPr>
          <p:cNvPr id="116" name="Text 107">
            <a:extLst xmlns:a="http://schemas.openxmlformats.org/drawingml/2006/main">
              <a:ext uri="{FF2B5EF4-FFF2-40B4-BE49-F238E27FC236}">
                <a16:creationId xmlns:a16="http://schemas.microsoft.com/office/drawing/2014/main" id="{CC488716-C64C-4855-BA55-11A4DDD1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6281928"/>
            <a:ext cx="9875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推荐解释</a:t>
            </a:r>
          </a:p>
        </p:txBody>
      </p:sp>
      <p:sp>
        <p:nvSpPr>
          <p:cNvPr id="117" name="Shape 108">
            <a:extLst xmlns:a="http://schemas.openxmlformats.org/drawingml/2006/main">
              <a:ext uri="{FF2B5EF4-FFF2-40B4-BE49-F238E27FC236}">
                <a16:creationId xmlns:a16="http://schemas.microsoft.com/office/drawing/2014/main" id="{80565ED9-71BF-4D11-BD38-7D0A6FC0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6364224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118" name="Shape 109">
            <a:extLst xmlns:a="http://schemas.openxmlformats.org/drawingml/2006/main">
              <a:ext uri="{FF2B5EF4-FFF2-40B4-BE49-F238E27FC236}">
                <a16:creationId xmlns:a16="http://schemas.microsoft.com/office/drawing/2014/main" id="{F1947C3B-3B52-4BF5-828D-83AD1456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080760"/>
            <a:ext cx="1627632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19" name="Shape 110">
            <a:extLst xmlns:a="http://schemas.openxmlformats.org/drawingml/2006/main">
              <a:ext uri="{FF2B5EF4-FFF2-40B4-BE49-F238E27FC236}">
                <a16:creationId xmlns:a16="http://schemas.microsoft.com/office/drawing/2014/main" id="{C4AF8129-870F-4D2F-8C4A-42578D3E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61904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2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124dbf87b4ca5">
            <a:extLst>
              <a:ext uri="{96DAC541-7B7A-43D3-8B79-37D633B846F1}">
                <asvg:svgBlip xmlns:asvg="http://schemas.microsoft.com/office/drawing/2016/SVG/main" r:embed="R2c354d90f4d14d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96287" y="6270407"/>
            <a:ext cx="187635" cy="187635"/>
          </a:xfrm>
          <a:prstGeom xmlns:a="http://schemas.openxmlformats.org/drawingml/2006/main" prst="rect">
            <a:avLst/>
          </a:prstGeom>
        </p:spPr>
      </p:pic>
      <p:sp>
        <p:nvSpPr>
          <p:cNvPr id="121" name="Text 111">
            <a:extLst xmlns:a="http://schemas.openxmlformats.org/drawingml/2006/main">
              <a:ext uri="{FF2B5EF4-FFF2-40B4-BE49-F238E27FC236}">
                <a16:creationId xmlns:a16="http://schemas.microsoft.com/office/drawing/2014/main" id="{271BC04E-8DE2-4551-A3BC-13CD5ED5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6281928"/>
            <a:ext cx="9875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查看详情</a:t>
            </a:r>
          </a:p>
        </p:txBody>
      </p:sp>
      <p:sp>
        <p:nvSpPr>
          <p:cNvPr id="122" name="Shape 112">
            <a:extLst xmlns:a="http://schemas.openxmlformats.org/drawingml/2006/main">
              <a:ext uri="{FF2B5EF4-FFF2-40B4-BE49-F238E27FC236}">
                <a16:creationId xmlns:a16="http://schemas.microsoft.com/office/drawing/2014/main" id="{60925D68-0B73-46FB-8F0A-83F85F9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364224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123" name="Shape 113">
            <a:extLst xmlns:a="http://schemas.openxmlformats.org/drawingml/2006/main">
              <a:ext uri="{FF2B5EF4-FFF2-40B4-BE49-F238E27FC236}">
                <a16:creationId xmlns:a16="http://schemas.microsoft.com/office/drawing/2014/main" id="{87C83ACC-9EF4-4D49-A222-312B39B0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080760"/>
            <a:ext cx="1627632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24" name="Shape 114">
            <a:extLst xmlns:a="http://schemas.openxmlformats.org/drawingml/2006/main">
              <a:ext uri="{FF2B5EF4-FFF2-40B4-BE49-F238E27FC236}">
                <a16:creationId xmlns:a16="http://schemas.microsoft.com/office/drawing/2014/main" id="{A507C431-6ED4-465C-A1FE-930487FC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619048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2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2a6cc8d8744a1">
            <a:extLst>
              <a:ext uri="{96DAC541-7B7A-43D3-8B79-37D633B846F1}">
                <asvg:svgBlip xmlns:asvg="http://schemas.microsoft.com/office/drawing/2016/SVG/main" r:embed="R1720aec09c6c44f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6567" y="6270407"/>
            <a:ext cx="187635" cy="187635"/>
          </a:xfrm>
          <a:prstGeom xmlns:a="http://schemas.openxmlformats.org/drawingml/2006/main" prst="rect">
            <a:avLst/>
          </a:prstGeom>
        </p:spPr>
      </p:pic>
      <p:sp>
        <p:nvSpPr>
          <p:cNvPr id="126" name="Text 115">
            <a:extLst xmlns:a="http://schemas.openxmlformats.org/drawingml/2006/main">
              <a:ext uri="{FF2B5EF4-FFF2-40B4-BE49-F238E27FC236}">
                <a16:creationId xmlns:a16="http://schemas.microsoft.com/office/drawing/2014/main" id="{DB2DC481-5104-4E0C-A909-CA2AF0F7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6281928"/>
            <a:ext cx="9875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出钓决策</a:t>
            </a:r>
          </a:p>
        </p:txBody>
      </p:sp>
    </p:spTree>
    <p:extLst>
      <p:ext uri="{BB962C8B-B14F-4D97-AF65-F5344CB8AC3E}">
        <p14:creationId xmlns:p14="http://schemas.microsoft.com/office/powerpoint/2010/main" val="174063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98418E-4F98-4456-B0DF-5D3D0978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B1DA295-ECCC-4362-BDDB-DABE6A94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D5EDB0B-3AD3-4012-ACE4-601388E7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160A244-245A-4ABB-BE9E-D7681548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5CF6CB0-6B9A-4E26-9600-25BDE0E4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13CE271-F6DF-4484-9A97-5A0E4BC8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1B380F-90B4-470A-BC49-FF2E9B62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F316D89-572C-453F-B443-610503AF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07EC769-53AF-412D-9F12-1B09A37F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地图与 POI：从“位置点”到“决策信息点”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CDFDAF1-1691-4FD5-B00A-272BC579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每个 POI 都承载鱼种、热度、风险、设施和近期鱼获等垂钓语义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2274C92-7AD8-4E04-993C-8CCF9945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5669280" cy="4069080"/>
          </a:xfrm>
          <a:prstGeom xmlns:a="http://schemas.openxmlformats.org/drawingml/2006/main" prst="roundRect">
            <a:avLst>
              <a:gd name="adj" fmla="val 2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83D4E7-C02B-41F3-A26B-05A21E17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76272"/>
            <a:ext cx="402336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0eb59591a4f50">
            <a:extLst>
              <a:ext uri="{96DAC541-7B7A-43D3-8B79-37D633B846F1}">
                <asvg:svgBlip xmlns:asvg="http://schemas.microsoft.com/office/drawing/2016/SVG/main" r:embed="R1b3f9c0ad9c647c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552" y="2267712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DD86A54-9C64-4254-A78D-6ED13DF4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295144"/>
            <a:ext cx="30175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搜索水库、河流、钓场、鱼种、钓法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19FD257-2055-4DC1-94E7-07029F24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6272"/>
            <a:ext cx="82296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pic>
        <p:nvPicPr>
          <p:cNvPr id="1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055f91ade4c92">
            <a:extLst>
              <a:ext uri="{96DAC541-7B7A-43D3-8B79-37D633B846F1}">
                <asvg:svgBlip xmlns:asvg="http://schemas.microsoft.com/office/drawing/2016/SVG/main" r:embed="Re4e41f0172e540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6360" y="2276856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177096D6-F5C2-427E-A356-E0C2BD4F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295144"/>
            <a:ext cx="2743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筛选</a:t>
            </a:r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95BCEA5-E8F8-4B10-9C6C-728AB8F5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24912"/>
            <a:ext cx="52578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594FC5D1-C6AB-4656-A14C-845C1F3A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4640"/>
            <a:ext cx="502920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A8D2F8">
                <a:alpha val="65000"/>
              </a:srgbClr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634484BE-F393-417A-B1CB-67EEB258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1528"/>
            <a:ext cx="502920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4B44A">
                <a:alpha val="65000"/>
              </a:srgbClr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318A738-3F57-4090-B01F-FC17151C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8416"/>
            <a:ext cx="502920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A8D2F8">
                <a:alpha val="65000"/>
              </a:srgbClr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27CBEBD-3385-4349-A917-BEFF3656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5304"/>
            <a:ext cx="502920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4B44A">
                <a:alpha val="65000"/>
              </a:srgbClr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93561129-5899-4CBF-A3BE-0B57CE6F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2192"/>
            <a:ext cx="502920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A8D2F8">
                <a:alpha val="65000"/>
              </a:srgbClr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85B33F7A-F4F3-4171-ADE4-E32C4125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9080"/>
            <a:ext cx="502920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4B44A">
                <a:alpha val="65000"/>
              </a:srgbClr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FB6E6EF5-D511-49EC-9B61-0884FC22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5968"/>
            <a:ext cx="502920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A8D2F8">
                <a:alpha val="65000"/>
              </a:srgbClr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16ADB6DC-DEAB-45F3-A416-D65AB77F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856"/>
            <a:ext cx="502920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4B44A">
                <a:alpha val="65000"/>
              </a:srgbClr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CA37B6FB-CBC9-4182-A7E5-009C3964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9744"/>
            <a:ext cx="502920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A8D2F8">
                <a:alpha val="65000"/>
              </a:srgbClr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776811FF-0F86-4324-806D-A04DD0D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56632"/>
            <a:ext cx="502920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4B44A">
                <a:alpha val="65000"/>
              </a:srgbClr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75574B17-6BA6-4C89-B949-24ED070E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74904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CC346B2E-6537-44DD-B7B1-3BEE6AF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840480"/>
            <a:ext cx="329184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FF323BF4-121F-4F51-BE3B-D50E5DAE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1546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B1FC311A-30BF-4F7B-A75C-EAC59FF6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46120"/>
            <a:ext cx="329184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3E823426-E7E4-4C7A-90DE-8BADD6D9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57200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12700">
            <a:solidFill>
              <a:srgbClr val="FF9F1C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A75AC4B7-845F-466F-82B6-B3D90302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663440"/>
            <a:ext cx="329184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410E7858-9255-4A74-AD6E-C43218A3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0156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C41E58D2-E9DB-42FA-84E7-CFC9D63C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93008"/>
            <a:ext cx="329184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EDE0797A-4EE5-4609-B0FD-BCE51BA0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80360"/>
            <a:ext cx="329184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D3D">
              <a:alpha val="92000"/>
            </a:srgbClr>
          </a:solidFill>
          <a:ln xmlns:a="http://schemas.openxmlformats.org/drawingml/2006/main" w="12700">
            <a:solidFill>
              <a:srgbClr val="1F2D3D">
                <a:alpha val="0"/>
              </a:srgbClr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7513F332-33EB-4F52-B17D-6CBE3D32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297180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多云 · 26℃ · 西南 2级 · 1012hPa</a:t>
            </a:r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772E5131-1C2A-451E-98E4-BB43A15F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0680"/>
            <a:ext cx="484632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7d6c117384607">
            <a:extLst>
              <a:ext uri="{96DAC541-7B7A-43D3-8B79-37D633B846F1}">
                <asvg:svgBlip xmlns:asvg="http://schemas.microsoft.com/office/drawing/2016/SVG/main" r:embed="Rb6b84f879d04478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" y="5559552"/>
            <a:ext cx="173736" cy="173736"/>
          </a:xfrm>
          <a:prstGeom xmlns:a="http://schemas.openxmlformats.org/drawingml/2006/main" prst="rect">
            <a:avLst/>
          </a:prstGeom>
        </p:spPr>
      </p:pic>
      <p:sp>
        <p:nvSpPr>
          <p:cNvPr id="42" name="Text 37">
            <a:extLst xmlns:a="http://schemas.openxmlformats.org/drawingml/2006/main">
              <a:ext uri="{FF2B5EF4-FFF2-40B4-BE49-F238E27FC236}">
                <a16:creationId xmlns:a16="http://schemas.microsoft.com/office/drawing/2014/main" id="{B1C6028F-2624-412D-AA11-F5185B52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5559552"/>
            <a:ext cx="39319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今日推荐：东湖听涛野钓点  17:00–19:00  风力 2 级</a:t>
            </a:r>
          </a:p>
        </p:txBody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3E38A49E-BEDB-472E-AA22-1B3641BA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20240"/>
            <a:ext cx="2377440" cy="406908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44" name="Shape 39">
            <a:extLst xmlns:a="http://schemas.openxmlformats.org/drawingml/2006/main">
              <a:ext uri="{FF2B5EF4-FFF2-40B4-BE49-F238E27FC236}">
                <a16:creationId xmlns:a16="http://schemas.microsoft.com/office/drawing/2014/main" id="{0EAFDA5B-AD25-4780-9253-A2F5608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176272"/>
            <a:ext cx="1956816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3"/>
          </a:solidFill>
          <a:ln xmlns:a="http://schemas.openxmlformats.org/drawingml/2006/main" w="12700">
            <a:solidFill>
              <a:srgbClr val="DDE8F3"/>
            </a:solidFill>
            <a:prstDash val="solid"/>
          </a:ln>
        </p:spPr>
      </p:sp>
      <p:sp>
        <p:nvSpPr>
          <p:cNvPr id="45" name="Shape 40">
            <a:extLst xmlns:a="http://schemas.openxmlformats.org/drawingml/2006/main">
              <a:ext uri="{FF2B5EF4-FFF2-40B4-BE49-F238E27FC236}">
                <a16:creationId xmlns:a16="http://schemas.microsoft.com/office/drawing/2014/main" id="{83568A77-D1BC-4A25-AE2A-0D64518C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384048" cy="18288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1E19C6D0-3B5D-4EEC-9FD8-F04E38BD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576" y="2331720"/>
            <a:ext cx="31089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野钓</a:t>
            </a:r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B58D432E-D10A-4E2D-8B5E-F2ADE0E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154680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东湖听涛野钓点</a:t>
            </a:r>
          </a:p>
        </p:txBody>
      </p:sp>
      <p:sp>
        <p:nvSpPr>
          <p:cNvPr id="48" name="Shape 43">
            <a:extLst xmlns:a="http://schemas.openxmlformats.org/drawingml/2006/main">
              <a:ext uri="{FF2B5EF4-FFF2-40B4-BE49-F238E27FC236}">
                <a16:creationId xmlns:a16="http://schemas.microsoft.com/office/drawing/2014/main" id="{F9BA3797-1A61-4DA1-BDED-DD22546F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2112"/>
            <a:ext cx="566928" cy="201168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49" name="Text 44">
            <a:extLst xmlns:a="http://schemas.openxmlformats.org/drawingml/2006/main">
              <a:ext uri="{FF2B5EF4-FFF2-40B4-BE49-F238E27FC236}">
                <a16:creationId xmlns:a16="http://schemas.microsoft.com/office/drawing/2014/main" id="{307EB421-2303-4663-A18D-1F5DE582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576" y="3227832"/>
            <a:ext cx="493776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热度 89</a:t>
            </a:r>
          </a:p>
        </p:txBody>
      </p:sp>
      <p:sp>
        <p:nvSpPr>
          <p:cNvPr id="50" name="Text 45">
            <a:extLst xmlns:a="http://schemas.openxmlformats.org/drawingml/2006/main">
              <a:ext uri="{FF2B5EF4-FFF2-40B4-BE49-F238E27FC236}">
                <a16:creationId xmlns:a16="http://schemas.microsoft.com/office/drawing/2014/main" id="{E4B82369-ADD8-4C0B-A8CD-17396C0F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502152"/>
            <a:ext cx="17373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2.4km · 武昌区东湖风景区附近</a:t>
            </a:r>
          </a:p>
        </p:txBody>
      </p:sp>
      <p:sp>
        <p:nvSpPr>
          <p:cNvPr id="51" name="Text 46">
            <a:extLst xmlns:a="http://schemas.openxmlformats.org/drawingml/2006/main">
              <a:ext uri="{FF2B5EF4-FFF2-40B4-BE49-F238E27FC236}">
                <a16:creationId xmlns:a16="http://schemas.microsoft.com/office/drawing/2014/main" id="{4C401120-FF01-415D-B7E1-593EBCA9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822192"/>
            <a:ext cx="1828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近 7 天有 18 条鱼获，风力 2 级，上午窗口较好。</a:t>
            </a:r>
          </a:p>
        </p:txBody>
      </p:sp>
      <p:sp>
        <p:nvSpPr>
          <p:cNvPr id="52" name="Shape 47">
            <a:extLst xmlns:a="http://schemas.openxmlformats.org/drawingml/2006/main">
              <a:ext uri="{FF2B5EF4-FFF2-40B4-BE49-F238E27FC236}">
                <a16:creationId xmlns:a16="http://schemas.microsoft.com/office/drawing/2014/main" id="{D8F75E95-0FBE-488D-89E5-08F8DFC7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4343400"/>
            <a:ext cx="8229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1963c27fc4a3f">
            <a:extLst>
              <a:ext uri="{96DAC541-7B7A-43D3-8B79-37D633B846F1}">
                <asvg:svgBlip xmlns:asvg="http://schemas.microsoft.com/office/drawing/2016/SVG/main" r:embed="Rb94262ecedd54f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6288" y="445312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54" name="Text 48">
            <a:extLst xmlns:a="http://schemas.openxmlformats.org/drawingml/2006/main">
              <a:ext uri="{FF2B5EF4-FFF2-40B4-BE49-F238E27FC236}">
                <a16:creationId xmlns:a16="http://schemas.microsoft.com/office/drawing/2014/main" id="{04B641F3-198C-4D0D-BBD1-ECE971D9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4517136"/>
            <a:ext cx="43891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鱼种</a:t>
            </a:r>
          </a:p>
        </p:txBody>
      </p:sp>
      <p:sp>
        <p:nvSpPr>
          <p:cNvPr id="55" name="Shape 49">
            <a:extLst xmlns:a="http://schemas.openxmlformats.org/drawingml/2006/main">
              <a:ext uri="{FF2B5EF4-FFF2-40B4-BE49-F238E27FC236}">
                <a16:creationId xmlns:a16="http://schemas.microsoft.com/office/drawing/2014/main" id="{EC743122-8308-4A19-8BEA-5EEB4EE5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4343400"/>
            <a:ext cx="8229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pic>
        <p:nvPicPr>
          <p:cNvPr id="5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a5a4825884f62">
            <a:extLst>
              <a:ext uri="{96DAC541-7B7A-43D3-8B79-37D633B846F1}">
                <asvg:svgBlip xmlns:asvg="http://schemas.microsoft.com/office/drawing/2016/SVG/main" r:embed="R01e77f85d7a8419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08976" y="4453128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57" name="Text 50">
            <a:extLst xmlns:a="http://schemas.openxmlformats.org/drawingml/2006/main">
              <a:ext uri="{FF2B5EF4-FFF2-40B4-BE49-F238E27FC236}">
                <a16:creationId xmlns:a16="http://schemas.microsoft.com/office/drawing/2014/main" id="{95868C13-E7E9-4873-B26E-E8A9941D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517136"/>
            <a:ext cx="43891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钓法</a:t>
            </a:r>
          </a:p>
        </p:txBody>
      </p:sp>
      <p:sp>
        <p:nvSpPr>
          <p:cNvPr id="58" name="Shape 51">
            <a:extLst xmlns:a="http://schemas.openxmlformats.org/drawingml/2006/main">
              <a:ext uri="{FF2B5EF4-FFF2-40B4-BE49-F238E27FC236}">
                <a16:creationId xmlns:a16="http://schemas.microsoft.com/office/drawing/2014/main" id="{8E62C68B-3668-42E6-B59A-80BFA95D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4965192"/>
            <a:ext cx="8229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pic>
        <p:nvPicPr>
          <p:cNvPr id="5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bc55b40814691">
            <a:extLst>
              <a:ext uri="{96DAC541-7B7A-43D3-8B79-37D633B846F1}">
                <asvg:svgBlip xmlns:asvg="http://schemas.microsoft.com/office/drawing/2016/SVG/main" r:embed="Rbe0f821c719348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6288" y="5074920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60" name="Text 52">
            <a:extLst xmlns:a="http://schemas.openxmlformats.org/drawingml/2006/main">
              <a:ext uri="{FF2B5EF4-FFF2-40B4-BE49-F238E27FC236}">
                <a16:creationId xmlns:a16="http://schemas.microsoft.com/office/drawing/2014/main" id="{8F45FCA4-69B7-4158-9008-A867AC4E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5138928"/>
            <a:ext cx="43891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61" name="Shape 53">
            <a:extLst xmlns:a="http://schemas.openxmlformats.org/drawingml/2006/main">
              <a:ext uri="{FF2B5EF4-FFF2-40B4-BE49-F238E27FC236}">
                <a16:creationId xmlns:a16="http://schemas.microsoft.com/office/drawing/2014/main" id="{99934D67-C0F3-4322-B594-57F54029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4965192"/>
            <a:ext cx="8229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pic>
        <p:nvPicPr>
          <p:cNvPr id="6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91f2c190d4bda">
            <a:extLst>
              <a:ext uri="{96DAC541-7B7A-43D3-8B79-37D633B846F1}">
                <asvg:svgBlip xmlns:asvg="http://schemas.microsoft.com/office/drawing/2016/SVG/main" r:embed="R2c5a1a6a383e45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08976" y="5074920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63" name="Text 54">
            <a:extLst xmlns:a="http://schemas.openxmlformats.org/drawingml/2006/main">
              <a:ext uri="{FF2B5EF4-FFF2-40B4-BE49-F238E27FC236}">
                <a16:creationId xmlns:a16="http://schemas.microsoft.com/office/drawing/2014/main" id="{D49185E0-5D43-43CC-90D4-5A7EF5B2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5138928"/>
            <a:ext cx="43891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设施</a:t>
            </a:r>
          </a:p>
        </p:txBody>
      </p:sp>
      <p:sp>
        <p:nvSpPr>
          <p:cNvPr id="64" name="Shape 55">
            <a:extLst xmlns:a="http://schemas.openxmlformats.org/drawingml/2006/main">
              <a:ext uri="{FF2B5EF4-FFF2-40B4-BE49-F238E27FC236}">
                <a16:creationId xmlns:a16="http://schemas.microsoft.com/office/drawing/2014/main" id="{8F14096A-6BB4-4CBF-8BD4-A2624FBF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920240"/>
            <a:ext cx="2331720" cy="40690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65" name="Text 56">
            <a:extLst xmlns:a="http://schemas.openxmlformats.org/drawingml/2006/main">
              <a:ext uri="{FF2B5EF4-FFF2-40B4-BE49-F238E27FC236}">
                <a16:creationId xmlns:a16="http://schemas.microsoft.com/office/drawing/2014/main" id="{37688365-AB90-44A8-B9FC-8668A497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12848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POI 语义字段</a:t>
            </a:r>
          </a:p>
        </p:txBody>
      </p:sp>
      <p:pic>
        <p:nvPicPr>
          <p:cNvPr id="6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c2ce9d2244c12">
            <a:extLst>
              <a:ext uri="{96DAC541-7B7A-43D3-8B79-37D633B846F1}">
                <asvg:svgBlip xmlns:asvg="http://schemas.microsoft.com/office/drawing/2016/SVG/main" r:embed="R63cc37445e3c4a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040" y="265176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67" name="Text 57">
            <a:extLst xmlns:a="http://schemas.openxmlformats.org/drawingml/2006/main">
              <a:ext uri="{FF2B5EF4-FFF2-40B4-BE49-F238E27FC236}">
                <a16:creationId xmlns:a16="http://schemas.microsoft.com/office/drawing/2014/main" id="{51DAFE70-C11A-4389-B581-41921EEE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2679192"/>
            <a:ext cx="150876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鱼种：鲫鱼 / 翘嘴 / 鳊鱼</a:t>
            </a:r>
          </a:p>
        </p:txBody>
      </p:sp>
      <p:pic>
        <p:nvPicPr>
          <p:cNvPr id="68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2f729526b4eaf">
            <a:extLst>
              <a:ext uri="{96DAC541-7B7A-43D3-8B79-37D633B846F1}">
                <asvg:svgBlip xmlns:asvg="http://schemas.microsoft.com/office/drawing/2016/SVG/main" r:embed="R3d055e1830e947d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040" y="3081528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69" name="Text 58">
            <a:extLst xmlns:a="http://schemas.openxmlformats.org/drawingml/2006/main">
              <a:ext uri="{FF2B5EF4-FFF2-40B4-BE49-F238E27FC236}">
                <a16:creationId xmlns:a16="http://schemas.microsoft.com/office/drawing/2014/main" id="{A935F9D3-C179-4DCF-864C-C43EE089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108960"/>
            <a:ext cx="150876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钓法：路亚 / 台钓</a:t>
            </a:r>
          </a:p>
        </p:txBody>
      </p:sp>
      <p:pic>
        <p:nvPicPr>
          <p:cNvPr id="7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f508e41474712">
            <a:extLst>
              <a:ext uri="{96DAC541-7B7A-43D3-8B79-37D633B846F1}">
                <asvg:svgBlip xmlns:asvg="http://schemas.microsoft.com/office/drawing/2016/SVG/main" r:embed="R220ea498a89e4bc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040" y="3511296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71" name="Text 59">
            <a:extLst xmlns:a="http://schemas.openxmlformats.org/drawingml/2006/main">
              <a:ext uri="{FF2B5EF4-FFF2-40B4-BE49-F238E27FC236}">
                <a16:creationId xmlns:a16="http://schemas.microsoft.com/office/drawing/2014/main" id="{96379F7E-5118-49A5-AA9F-D7EE2718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538728"/>
            <a:ext cx="150876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热度：近期鱼获与互动</a:t>
            </a:r>
          </a:p>
        </p:txBody>
      </p:sp>
      <p:pic>
        <p:nvPicPr>
          <p:cNvPr id="72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5b23c4a924d3c">
            <a:extLst>
              <a:ext uri="{96DAC541-7B7A-43D3-8B79-37D633B846F1}">
                <asvg:svgBlip xmlns:asvg="http://schemas.microsoft.com/office/drawing/2016/SVG/main" r:embed="R3a0bf4b6582647d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040" y="3941064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73" name="Text 60">
            <a:extLst xmlns:a="http://schemas.openxmlformats.org/drawingml/2006/main">
              <a:ext uri="{FF2B5EF4-FFF2-40B4-BE49-F238E27FC236}">
                <a16:creationId xmlns:a16="http://schemas.microsoft.com/office/drawing/2014/main" id="{E13604B3-ED2E-44D5-984B-25EE8847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968496"/>
            <a:ext cx="150876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风险：禁钓 / 安全提示</a:t>
            </a:r>
          </a:p>
        </p:txBody>
      </p:sp>
      <p:pic>
        <p:nvPicPr>
          <p:cNvPr id="74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1edf88d734b30">
            <a:extLst>
              <a:ext uri="{96DAC541-7B7A-43D3-8B79-37D633B846F1}">
                <asvg:svgBlip xmlns:asvg="http://schemas.microsoft.com/office/drawing/2016/SVG/main" r:embed="R1c3d194d88f742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040" y="4370832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75" name="Text 61">
            <a:extLst xmlns:a="http://schemas.openxmlformats.org/drawingml/2006/main">
              <a:ext uri="{FF2B5EF4-FFF2-40B4-BE49-F238E27FC236}">
                <a16:creationId xmlns:a16="http://schemas.microsoft.com/office/drawing/2014/main" id="{C63D9EA3-DE8B-4E70-95D5-D270495C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4398264"/>
            <a:ext cx="150876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设施：停车 / 补给 / 步道</a:t>
            </a:r>
          </a:p>
        </p:txBody>
      </p:sp>
      <p:pic>
        <p:nvPicPr>
          <p:cNvPr id="76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fd910c021463c">
            <a:extLst>
              <a:ext uri="{96DAC541-7B7A-43D3-8B79-37D633B846F1}">
                <asvg:svgBlip xmlns:asvg="http://schemas.microsoft.com/office/drawing/2016/SVG/main" r:embed="R084996a6e9f9450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040" y="480060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77" name="Text 62">
            <a:extLst xmlns:a="http://schemas.openxmlformats.org/drawingml/2006/main">
              <a:ext uri="{FF2B5EF4-FFF2-40B4-BE49-F238E27FC236}">
                <a16:creationId xmlns:a16="http://schemas.microsoft.com/office/drawing/2014/main" id="{F31D296C-2F68-42CB-B21C-0F6F0A3E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4828032"/>
            <a:ext cx="150876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天气：风力 / 湿度 / 气压</a:t>
            </a:r>
          </a:p>
        </p:txBody>
      </p:sp>
      <p:sp>
        <p:nvSpPr>
          <p:cNvPr id="78" name="Shape 63">
            <a:extLst xmlns:a="http://schemas.openxmlformats.org/drawingml/2006/main">
              <a:ext uri="{FF2B5EF4-FFF2-40B4-BE49-F238E27FC236}">
                <a16:creationId xmlns:a16="http://schemas.microsoft.com/office/drawing/2014/main" id="{9712C2A3-B705-43C3-B3D5-DE49D817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486400"/>
            <a:ext cx="233172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79" name="Text 64">
            <a:extLst xmlns:a="http://schemas.openxmlformats.org/drawingml/2006/main">
              <a:ext uri="{FF2B5EF4-FFF2-40B4-BE49-F238E27FC236}">
                <a16:creationId xmlns:a16="http://schemas.microsoft.com/office/drawing/2014/main" id="{A1AA2D7A-B43C-4518-8F43-A511C656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5623560"/>
            <a:ext cx="1965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不是地图上有点，而是每个点都具备可决策的垂钓语义。</a:t>
            </a:r>
          </a:p>
        </p:txBody>
      </p:sp>
    </p:spTree>
    <p:extLst>
      <p:ext uri="{BB962C8B-B14F-4D97-AF65-F5344CB8AC3E}">
        <p14:creationId xmlns:p14="http://schemas.microsoft.com/office/powerpoint/2010/main" val="20963107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F171455-6B05-46D5-8B2D-2AF4AA10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5FFA461-25FA-42E5-B894-9C35F4F4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DEEA98-27AC-4C6E-AB32-057C5F87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3015D3F-73D7-442A-8E7B-6503BAAA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C52034-FF71-4DF2-84D1-1835404D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B057457-35AF-45C0-B278-D1AE0E47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52A618-1A57-47B9-852F-CFFE8820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F6C870A-4CB1-41BC-8B20-6290BE9E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2EA8FC0-7CB9-4885-AB91-92E3D6D9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社区：鱼获分享与钓点数据沉淀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D53DD3-0167-4286-9558-12554D88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帖子不是终点，而是钓点画像和推荐优化的数据入口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104E45C-3A6E-41AE-987E-3798DA39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19072"/>
            <a:ext cx="1965960" cy="43434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F1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337880E-F004-4D5F-B176-06EE3B75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83664"/>
            <a:ext cx="16367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AE448AD-BE25-4C6A-A13B-4AA369DF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029968"/>
            <a:ext cx="1005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4783CB8-C593-45D3-B225-EBAA363C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21992"/>
            <a:ext cx="1691640" cy="25603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430504E-E33C-43E8-8C60-23019822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304288"/>
            <a:ext cx="127101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搜索钓点、鱼种、技巧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27CAAA5-2EEA-45B2-814B-7A4A5893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9464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5D630E3-2C55-42DA-B98F-7C5ED6C2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2615184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推荐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80C0824-0531-4A40-AEEB-A4CB4C3B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2569464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98825E3-D135-4C8D-85CF-F7588F55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615184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同城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30E41C1-328F-4DDD-BB15-8162D01E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4" y="2569464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CF2C5AC-18F7-4419-9617-E14199E7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615184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关注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25A22C6-C258-4D89-A3A1-BDAEE887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856" y="2569464"/>
            <a:ext cx="347472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4F8FF"/>
          </a:solidFill>
          <a:ln xmlns:a="http://schemas.openxmlformats.org/drawingml/2006/main" w="12700">
            <a:solidFill>
              <a:srgbClr val="F4F8F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71A4946-19EB-4192-A491-C948C71B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2615184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路亚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40D4D43-0863-45F9-AB56-6C1266E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34640"/>
            <a:ext cx="754380" cy="128016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5CC18F0-1812-4114-82ED-0D1C0903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34640"/>
            <a:ext cx="7543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BF9"/>
          </a:solidFill>
          <a:ln xmlns:a="http://schemas.openxmlformats.org/drawingml/2006/main" w="12700">
            <a:solidFill>
              <a:srgbClr val="D9EBF9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54B45ED-233F-430A-99AE-0D374B3A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621024"/>
            <a:ext cx="64465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傍晚窗口 40 分钟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671D97A-4D04-41C8-AEDF-56F80D51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858768"/>
            <a:ext cx="64465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678EE85-D5D1-4FE1-B519-5FE169A0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" y="2834640"/>
            <a:ext cx="754380" cy="128016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A22D410-F504-4060-AF29-28004418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" y="2834640"/>
            <a:ext cx="7543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2700">
            <a:solidFill>
              <a:srgbClr val="E7EEF5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27B755D-3D50-4D3F-AE9C-D3A1103A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804" y="3621024"/>
            <a:ext cx="64465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东湖早口不错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F381730-0C77-423F-9809-26407A4D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804" y="3858768"/>
            <a:ext cx="64465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C027C69-008D-4AB0-8445-0960FA5B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754380" cy="128016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0606544-635D-4437-B755-3C3C5449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7543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2700">
            <a:solidFill>
              <a:srgbClr val="E7EEF5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9691B8E-E5F6-4146-B01D-906F88CC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038344"/>
            <a:ext cx="64465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傍晚窗口 40 分钟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31712EE-B538-4BC1-87C8-980E48B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276088"/>
            <a:ext cx="64465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8E821276-7EAF-4C9A-BB25-8AAA5CD8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" y="4251960"/>
            <a:ext cx="754380" cy="128016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3DE42098-1073-4AF7-A821-C8A40655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" y="4251960"/>
            <a:ext cx="7543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12700">
            <a:solidFill>
              <a:srgbClr val="E7EEF5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81F65E3-F759-4EC8-AEA7-B3560BEF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804" y="5038344"/>
            <a:ext cx="64465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3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东湖早口不错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EACC26F-810F-4C88-A426-6B59B1D5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804" y="5276088"/>
            <a:ext cx="644652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江风路亚  ·  128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70FF061A-CB93-4C4F-A827-279DCF04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E3241D5-ED7E-4FF8-BCA7-33B4F698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772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5A84C64-B755-4710-B4E3-037CC2B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EEED1A-5BE0-4E0A-8BD3-54C835D9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9ACD0472-F2AA-4129-BD0F-5536FC82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024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技巧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1F7308C7-A802-4592-92B2-6C4CFA11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108" y="5751576"/>
            <a:ext cx="2910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4773FBD-5BFE-4559-899C-DBB35697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19072"/>
            <a:ext cx="2057400" cy="43434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F1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E964CF5-6B2B-417E-8706-63D2D5FB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883664"/>
            <a:ext cx="172821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0469D629-3854-448B-8B46-3F08E9E9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029968"/>
            <a:ext cx="1005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C198F8E7-E238-47B3-9F83-46CF5523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404872"/>
            <a:ext cx="1728216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3"/>
          </a:solidFill>
          <a:ln xmlns:a="http://schemas.openxmlformats.org/drawingml/2006/main" w="12700">
            <a:solidFill>
              <a:srgbClr val="DDE8F3"/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95D6093A-D2BD-4040-BD22-B0862E68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2505456"/>
            <a:ext cx="347472" cy="173736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0A346E52-E526-4A59-A704-07460E00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2551176"/>
            <a:ext cx="2743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野钓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533E6975-1C69-4B4C-B39C-EE5BD49A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3017520"/>
            <a:ext cx="14721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东湖听涛野钓点</a:t>
            </a:r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9127887-627A-4EF7-A4AF-59015590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21024"/>
            <a:ext cx="530352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热度 89</a:t>
            </a:r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3618A28D-AB89-440D-93F6-4BE0D3DF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3593592"/>
            <a:ext cx="15453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2.4km · 近7天18条鱼获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F6E6C42D-12DD-4938-AFC2-EBD16658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3877056"/>
            <a:ext cx="15453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风力 2 级，上午窗口较好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BE8B8E7E-E7A5-4EB3-8017-137BDFF4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4251960"/>
            <a:ext cx="356616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22FDB28B-2277-4ED8-88FD-10D44357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297680"/>
            <a:ext cx="283464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鲫鱼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9656DD9-2995-43FF-A7A0-7CF1A980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4251960"/>
            <a:ext cx="356616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249E2602-B3F0-404B-8702-653270B7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297680"/>
            <a:ext cx="283464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翘嘴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84D7BE9E-AA7C-423C-9BC4-B07F7192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251960"/>
            <a:ext cx="356616" cy="164592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84888749-E7B6-4D51-98FD-060A1FAF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297680"/>
            <a:ext cx="283464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鳊鱼</a:t>
            </a:r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5BDA9B27-E1EC-4279-9119-9060935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751576"/>
            <a:ext cx="3063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F74D5AC3-1EDE-4B6D-9CB0-33091429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52" y="5751576"/>
            <a:ext cx="3063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6EADF817-D303-46AC-AB59-E5D6CEFA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5751576"/>
            <a:ext cx="3063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F0E2D8D6-1A14-432A-8AC2-E3B4374F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751576"/>
            <a:ext cx="3063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C411E59F-ACD3-4CAB-992D-AB901BD0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5751576"/>
            <a:ext cx="3063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技巧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7228A4C3-95C1-429F-9989-31801009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948" y="5751576"/>
            <a:ext cx="3063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我的</a:t>
            </a:r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D935BECE-889E-469E-A84C-EA180D94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801368"/>
            <a:ext cx="960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帖子详情</a:t>
            </a:r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8C4030A1-3613-49E4-B483-BE5AA59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28800"/>
            <a:ext cx="457200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7A1150A9-0C75-470E-8E33-11DDD0DF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9933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7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f645fc022494c">
            <a:extLst>
              <a:ext uri="{96DAC541-7B7A-43D3-8B79-37D633B846F1}">
                <asvg:svgBlip xmlns:asvg="http://schemas.microsoft.com/office/drawing/2016/SVG/main" r:embed="R071f10a7a6d249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5163" y="2081723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520211ED-D98C-4108-9CDB-2A90AD60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1993392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鱼获帖子</a:t>
            </a:r>
          </a:p>
        </p:txBody>
      </p:sp>
      <p:sp>
        <p:nvSpPr>
          <p:cNvPr id="74" name="Text 71">
            <a:extLst xmlns:a="http://schemas.openxmlformats.org/drawingml/2006/main">
              <a:ext uri="{FF2B5EF4-FFF2-40B4-BE49-F238E27FC236}">
                <a16:creationId xmlns:a16="http://schemas.microsoft.com/office/drawing/2014/main" id="{2362EC09-531E-412D-A1A9-87AB91D0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258568"/>
            <a:ext cx="31089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图文/视频记录真实鱼获</a:t>
            </a:r>
          </a:p>
        </p:txBody>
      </p:sp>
      <p:sp>
        <p:nvSpPr>
          <p:cNvPr id="75" name="Shape 72">
            <a:extLst xmlns:a="http://schemas.openxmlformats.org/drawingml/2006/main">
              <a:ext uri="{FF2B5EF4-FFF2-40B4-BE49-F238E27FC236}">
                <a16:creationId xmlns:a16="http://schemas.microsoft.com/office/drawing/2014/main" id="{D538DF14-F43C-4E66-994E-FFA0B5E0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788920"/>
            <a:ext cx="457200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76" name="Shape 73">
            <a:extLst xmlns:a="http://schemas.openxmlformats.org/drawingml/2006/main">
              <a:ext uri="{FF2B5EF4-FFF2-40B4-BE49-F238E27FC236}">
                <a16:creationId xmlns:a16="http://schemas.microsoft.com/office/drawing/2014/main" id="{73FEAC85-6C40-471B-A43B-E67A1A14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9535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7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98803bd7444e6">
            <a:extLst>
              <a:ext uri="{96DAC541-7B7A-43D3-8B79-37D633B846F1}">
                <asvg:svgBlip xmlns:asvg="http://schemas.microsoft.com/office/drawing/2016/SVG/main" r:embed="R4d8575ec32c54d1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5163" y="3041843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78" name="Text 74">
            <a:extLst xmlns:a="http://schemas.openxmlformats.org/drawingml/2006/main">
              <a:ext uri="{FF2B5EF4-FFF2-40B4-BE49-F238E27FC236}">
                <a16:creationId xmlns:a16="http://schemas.microsoft.com/office/drawing/2014/main" id="{C77F50A2-5BB4-4E08-BD04-D429078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953512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同城话题</a:t>
            </a:r>
          </a:p>
        </p:txBody>
      </p:sp>
      <p:sp>
        <p:nvSpPr>
          <p:cNvPr id="79" name="Text 75">
            <a:extLst xmlns:a="http://schemas.openxmlformats.org/drawingml/2006/main">
              <a:ext uri="{FF2B5EF4-FFF2-40B4-BE49-F238E27FC236}">
                <a16:creationId xmlns:a16="http://schemas.microsoft.com/office/drawing/2014/main" id="{5209A2E6-88F7-48FF-8BF8-12A5977C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218688"/>
            <a:ext cx="31089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基于位置聚合同城经验</a:t>
            </a:r>
          </a:p>
        </p:txBody>
      </p:sp>
      <p:sp>
        <p:nvSpPr>
          <p:cNvPr id="80" name="Shape 76">
            <a:extLst xmlns:a="http://schemas.openxmlformats.org/drawingml/2006/main">
              <a:ext uri="{FF2B5EF4-FFF2-40B4-BE49-F238E27FC236}">
                <a16:creationId xmlns:a16="http://schemas.microsoft.com/office/drawing/2014/main" id="{7BCC4C41-6E7C-4E2A-A67B-5BD5B19B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749040"/>
            <a:ext cx="457200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81" name="Shape 77">
            <a:extLst xmlns:a="http://schemas.openxmlformats.org/drawingml/2006/main">
              <a:ext uri="{FF2B5EF4-FFF2-40B4-BE49-F238E27FC236}">
                <a16:creationId xmlns:a16="http://schemas.microsoft.com/office/drawing/2014/main" id="{CBE6B411-131A-42DF-AC94-ACF54E11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9136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8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e4726bfaa4a35">
            <a:extLst>
              <a:ext uri="{96DAC541-7B7A-43D3-8B79-37D633B846F1}">
                <asvg:svgBlip xmlns:asvg="http://schemas.microsoft.com/office/drawing/2016/SVG/main" r:embed="R1ca860ca701248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5163" y="4001963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83" name="Text 78">
            <a:extLst xmlns:a="http://schemas.openxmlformats.org/drawingml/2006/main">
              <a:ext uri="{FF2B5EF4-FFF2-40B4-BE49-F238E27FC236}">
                <a16:creationId xmlns:a16="http://schemas.microsoft.com/office/drawing/2014/main" id="{3EFE74F2-650A-4A14-A833-F10D1627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913632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结构化标签</a:t>
            </a:r>
          </a:p>
        </p:txBody>
      </p:sp>
      <p:sp>
        <p:nvSpPr>
          <p:cNvPr id="84" name="Text 79">
            <a:extLst xmlns:a="http://schemas.openxmlformats.org/drawingml/2006/main">
              <a:ext uri="{FF2B5EF4-FFF2-40B4-BE49-F238E27FC236}">
                <a16:creationId xmlns:a16="http://schemas.microsoft.com/office/drawing/2014/main" id="{7E7298A3-162D-4BF7-A935-B2FC9B82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178808"/>
            <a:ext cx="31089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鱼种、钓法、时间、天气统一沉淀</a:t>
            </a:r>
          </a:p>
        </p:txBody>
      </p:sp>
      <p:sp>
        <p:nvSpPr>
          <p:cNvPr id="85" name="Shape 80">
            <a:extLst xmlns:a="http://schemas.openxmlformats.org/drawingml/2006/main">
              <a:ext uri="{FF2B5EF4-FFF2-40B4-BE49-F238E27FC236}">
                <a16:creationId xmlns:a16="http://schemas.microsoft.com/office/drawing/2014/main" id="{B48EA1B2-9D29-41DE-A9C9-40E7E84D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709160"/>
            <a:ext cx="457200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86" name="Shape 81">
            <a:extLst xmlns:a="http://schemas.openxmlformats.org/drawingml/2006/main">
              <a:ext uri="{FF2B5EF4-FFF2-40B4-BE49-F238E27FC236}">
                <a16:creationId xmlns:a16="http://schemas.microsoft.com/office/drawing/2014/main" id="{DF101A6E-CF3F-48BE-8868-3D87C34B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8737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8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0ada340924d34">
            <a:extLst>
              <a:ext uri="{96DAC541-7B7A-43D3-8B79-37D633B846F1}">
                <asvg:svgBlip xmlns:asvg="http://schemas.microsoft.com/office/drawing/2016/SVG/main" r:embed="Rf252ed0fd27646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5163" y="4962083"/>
            <a:ext cx="207386" cy="207386"/>
          </a:xfrm>
          <a:prstGeom xmlns:a="http://schemas.openxmlformats.org/drawingml/2006/main" prst="rect">
            <a:avLst/>
          </a:prstGeom>
        </p:spPr>
      </p:pic>
      <p:sp>
        <p:nvSpPr>
          <p:cNvPr id="88" name="Text 82">
            <a:extLst xmlns:a="http://schemas.openxmlformats.org/drawingml/2006/main">
              <a:ext uri="{FF2B5EF4-FFF2-40B4-BE49-F238E27FC236}">
                <a16:creationId xmlns:a16="http://schemas.microsoft.com/office/drawing/2014/main" id="{95B2D91A-A6A2-44B2-B14C-809A99C4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873752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互动关注</a:t>
            </a:r>
          </a:p>
        </p:txBody>
      </p:sp>
      <p:sp>
        <p:nvSpPr>
          <p:cNvPr id="89" name="Text 83">
            <a:extLst xmlns:a="http://schemas.openxmlformats.org/drawingml/2006/main">
              <a:ext uri="{FF2B5EF4-FFF2-40B4-BE49-F238E27FC236}">
                <a16:creationId xmlns:a16="http://schemas.microsoft.com/office/drawing/2014/main" id="{2A2E10A2-F80A-49A3-84FB-AC93396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5138928"/>
            <a:ext cx="31089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点赞、评论、收藏增强活跃</a:t>
            </a:r>
          </a:p>
        </p:txBody>
      </p:sp>
      <p:sp>
        <p:nvSpPr>
          <p:cNvPr id="90" name="Shape 84">
            <a:extLst xmlns:a="http://schemas.openxmlformats.org/drawingml/2006/main">
              <a:ext uri="{FF2B5EF4-FFF2-40B4-BE49-F238E27FC236}">
                <a16:creationId xmlns:a16="http://schemas.microsoft.com/office/drawing/2014/main" id="{E8EA30A4-1CB5-49BE-96B1-00D4E729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9048"/>
            <a:ext cx="1627632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91" name="Shape 85">
            <a:extLst xmlns:a="http://schemas.openxmlformats.org/drawingml/2006/main">
              <a:ext uri="{FF2B5EF4-FFF2-40B4-BE49-F238E27FC236}">
                <a16:creationId xmlns:a16="http://schemas.microsoft.com/office/drawing/2014/main" id="{649E934D-F753-46CF-B496-F05BFBF6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62087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9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3d31250694b97">
            <a:extLst>
              <a:ext uri="{96DAC541-7B7A-43D3-8B79-37D633B846F1}">
                <asvg:svgBlip xmlns:asvg="http://schemas.microsoft.com/office/drawing/2016/SVG/main" r:embed="Rf16eed6e216e40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5447" y="6288695"/>
            <a:ext cx="187635" cy="187635"/>
          </a:xfrm>
          <a:prstGeom xmlns:a="http://schemas.openxmlformats.org/drawingml/2006/main" prst="rect">
            <a:avLst/>
          </a:prstGeom>
        </p:spPr>
      </p:pic>
      <p:sp>
        <p:nvSpPr>
          <p:cNvPr id="93" name="Text 86">
            <a:extLst xmlns:a="http://schemas.openxmlformats.org/drawingml/2006/main">
              <a:ext uri="{FF2B5EF4-FFF2-40B4-BE49-F238E27FC236}">
                <a16:creationId xmlns:a16="http://schemas.microsoft.com/office/drawing/2014/main" id="{E6E33F5A-5AC0-4CF2-BD6A-F201EC57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6300216"/>
            <a:ext cx="9875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发布鱼获</a:t>
            </a:r>
          </a:p>
        </p:txBody>
      </p:sp>
      <p:sp>
        <p:nvSpPr>
          <p:cNvPr id="94" name="Shape 87">
            <a:extLst xmlns:a="http://schemas.openxmlformats.org/drawingml/2006/main">
              <a:ext uri="{FF2B5EF4-FFF2-40B4-BE49-F238E27FC236}">
                <a16:creationId xmlns:a16="http://schemas.microsoft.com/office/drawing/2014/main" id="{9F701305-98DC-4CCF-AD67-460FCDD5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63825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95" name="Shape 88">
            <a:extLst xmlns:a="http://schemas.openxmlformats.org/drawingml/2006/main">
              <a:ext uri="{FF2B5EF4-FFF2-40B4-BE49-F238E27FC236}">
                <a16:creationId xmlns:a16="http://schemas.microsoft.com/office/drawing/2014/main" id="{E05786A0-49FD-4ADB-9D2E-CED79801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6099048"/>
            <a:ext cx="1627632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96" name="Shape 89">
            <a:extLst xmlns:a="http://schemas.openxmlformats.org/drawingml/2006/main">
              <a:ext uri="{FF2B5EF4-FFF2-40B4-BE49-F238E27FC236}">
                <a16:creationId xmlns:a16="http://schemas.microsoft.com/office/drawing/2014/main" id="{92A77AD6-2294-4028-9932-A511A187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62087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9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1edf7686a4a70">
            <a:extLst>
              <a:ext uri="{96DAC541-7B7A-43D3-8B79-37D633B846F1}">
                <asvg:svgBlip xmlns:asvg="http://schemas.microsoft.com/office/drawing/2016/SVG/main" r:embed="Rd851259c96ad45c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15727" y="6288695"/>
            <a:ext cx="187635" cy="187635"/>
          </a:xfrm>
          <a:prstGeom xmlns:a="http://schemas.openxmlformats.org/drawingml/2006/main" prst="rect">
            <a:avLst/>
          </a:prstGeom>
        </p:spPr>
      </p:pic>
      <p:sp>
        <p:nvSpPr>
          <p:cNvPr id="98" name="Text 90">
            <a:extLst xmlns:a="http://schemas.openxmlformats.org/drawingml/2006/main">
              <a:ext uri="{FF2B5EF4-FFF2-40B4-BE49-F238E27FC236}">
                <a16:creationId xmlns:a16="http://schemas.microsoft.com/office/drawing/2014/main" id="{B3A4415F-4FB3-400C-8552-CC0B8027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6300216"/>
            <a:ext cx="9875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社区互动</a:t>
            </a:r>
          </a:p>
        </p:txBody>
      </p:sp>
      <p:sp>
        <p:nvSpPr>
          <p:cNvPr id="99" name="Shape 91">
            <a:extLst xmlns:a="http://schemas.openxmlformats.org/drawingml/2006/main">
              <a:ext uri="{FF2B5EF4-FFF2-40B4-BE49-F238E27FC236}">
                <a16:creationId xmlns:a16="http://schemas.microsoft.com/office/drawing/2014/main" id="{D8B331D5-21F9-4E55-8A9A-53B4D879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63825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100" name="Shape 92">
            <a:extLst xmlns:a="http://schemas.openxmlformats.org/drawingml/2006/main">
              <a:ext uri="{FF2B5EF4-FFF2-40B4-BE49-F238E27FC236}">
                <a16:creationId xmlns:a16="http://schemas.microsoft.com/office/drawing/2014/main" id="{1796778F-4A9B-471C-BA1D-F3F3ED07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6099048"/>
            <a:ext cx="1627632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01" name="Shape 93">
            <a:extLst xmlns:a="http://schemas.openxmlformats.org/drawingml/2006/main">
              <a:ext uri="{FF2B5EF4-FFF2-40B4-BE49-F238E27FC236}">
                <a16:creationId xmlns:a16="http://schemas.microsoft.com/office/drawing/2014/main" id="{35D83FA8-C006-4BEE-9A1F-0B95508E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62087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0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066a2bec041f2">
            <a:extLst>
              <a:ext uri="{96DAC541-7B7A-43D3-8B79-37D633B846F1}">
                <asvg:svgBlip xmlns:asvg="http://schemas.microsoft.com/office/drawing/2016/SVG/main" r:embed="Rc378f440ca8e4bd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6007" y="6288695"/>
            <a:ext cx="187635" cy="187635"/>
          </a:xfrm>
          <a:prstGeom xmlns:a="http://schemas.openxmlformats.org/drawingml/2006/main" prst="rect">
            <a:avLst/>
          </a:prstGeom>
        </p:spPr>
      </p:pic>
      <p:sp>
        <p:nvSpPr>
          <p:cNvPr id="103" name="Text 94">
            <a:extLst xmlns:a="http://schemas.openxmlformats.org/drawingml/2006/main">
              <a:ext uri="{FF2B5EF4-FFF2-40B4-BE49-F238E27FC236}">
                <a16:creationId xmlns:a16="http://schemas.microsoft.com/office/drawing/2014/main" id="{2346532D-39F2-4178-AF47-1C25E48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6300216"/>
            <a:ext cx="9875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结构化标签</a:t>
            </a:r>
          </a:p>
        </p:txBody>
      </p:sp>
      <p:sp>
        <p:nvSpPr>
          <p:cNvPr id="104" name="Shape 95">
            <a:extLst xmlns:a="http://schemas.openxmlformats.org/drawingml/2006/main">
              <a:ext uri="{FF2B5EF4-FFF2-40B4-BE49-F238E27FC236}">
                <a16:creationId xmlns:a16="http://schemas.microsoft.com/office/drawing/2014/main" id="{12C4EBE2-BAC5-49EA-9D52-85915E92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63825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105" name="Shape 96">
            <a:extLst xmlns:a="http://schemas.openxmlformats.org/drawingml/2006/main">
              <a:ext uri="{FF2B5EF4-FFF2-40B4-BE49-F238E27FC236}">
                <a16:creationId xmlns:a16="http://schemas.microsoft.com/office/drawing/2014/main" id="{429FEE0D-46BE-48FE-B6C3-1606CEEA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099048"/>
            <a:ext cx="1627632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06" name="Shape 97">
            <a:extLst xmlns:a="http://schemas.openxmlformats.org/drawingml/2006/main">
              <a:ext uri="{FF2B5EF4-FFF2-40B4-BE49-F238E27FC236}">
                <a16:creationId xmlns:a16="http://schemas.microsoft.com/office/drawing/2014/main" id="{C594B80A-C9D9-4E6A-B8E8-0EF5785F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62087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0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55822c7ec4eea">
            <a:extLst>
              <a:ext uri="{96DAC541-7B7A-43D3-8B79-37D633B846F1}">
                <asvg:svgBlip xmlns:asvg="http://schemas.microsoft.com/office/drawing/2016/SVG/main" r:embed="R38b8635b213e45c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96287" y="6288695"/>
            <a:ext cx="187635" cy="187635"/>
          </a:xfrm>
          <a:prstGeom xmlns:a="http://schemas.openxmlformats.org/drawingml/2006/main" prst="rect">
            <a:avLst/>
          </a:prstGeom>
        </p:spPr>
      </p:pic>
      <p:sp>
        <p:nvSpPr>
          <p:cNvPr id="108" name="Text 98">
            <a:extLst xmlns:a="http://schemas.openxmlformats.org/drawingml/2006/main">
              <a:ext uri="{FF2B5EF4-FFF2-40B4-BE49-F238E27FC236}">
                <a16:creationId xmlns:a16="http://schemas.microsoft.com/office/drawing/2014/main" id="{227628C9-B9AD-42C6-813A-FEDC902C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6300216"/>
            <a:ext cx="9875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反哺推荐</a:t>
            </a:r>
          </a:p>
        </p:txBody>
      </p:sp>
      <p:sp>
        <p:nvSpPr>
          <p:cNvPr id="109" name="Shape 99">
            <a:extLst xmlns:a="http://schemas.openxmlformats.org/drawingml/2006/main">
              <a:ext uri="{FF2B5EF4-FFF2-40B4-BE49-F238E27FC236}">
                <a16:creationId xmlns:a16="http://schemas.microsoft.com/office/drawing/2014/main" id="{CE518F0F-CDFA-4053-9207-7B1559A2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3825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B7CFF"/>
            </a:solidFill>
            <a:prstDash val="solid"/>
          </a:ln>
        </p:spPr>
      </p:sp>
      <p:sp>
        <p:nvSpPr>
          <p:cNvPr id="110" name="Shape 100">
            <a:extLst xmlns:a="http://schemas.openxmlformats.org/drawingml/2006/main">
              <a:ext uri="{FF2B5EF4-FFF2-40B4-BE49-F238E27FC236}">
                <a16:creationId xmlns:a16="http://schemas.microsoft.com/office/drawing/2014/main" id="{DC3089BF-59E9-4C91-BF27-0E5F38F6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6099048"/>
            <a:ext cx="1627632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11" name="Shape 101">
            <a:extLst xmlns:a="http://schemas.openxmlformats.org/drawingml/2006/main">
              <a:ext uri="{FF2B5EF4-FFF2-40B4-BE49-F238E27FC236}">
                <a16:creationId xmlns:a16="http://schemas.microsoft.com/office/drawing/2014/main" id="{A2D44EC4-2EB0-460C-9870-A227B826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62087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1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d9de3cf1e425b">
            <a:extLst>
              <a:ext uri="{96DAC541-7B7A-43D3-8B79-37D633B846F1}">
                <asvg:svgBlip xmlns:asvg="http://schemas.microsoft.com/office/drawing/2016/SVG/main" r:embed="R1b080966574b41d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6567" y="6288695"/>
            <a:ext cx="187635" cy="187635"/>
          </a:xfrm>
          <a:prstGeom xmlns:a="http://schemas.openxmlformats.org/drawingml/2006/main" prst="rect">
            <a:avLst/>
          </a:prstGeom>
        </p:spPr>
      </p:pic>
      <p:sp>
        <p:nvSpPr>
          <p:cNvPr id="113" name="Text 102">
            <a:extLst xmlns:a="http://schemas.openxmlformats.org/drawingml/2006/main">
              <a:ext uri="{FF2B5EF4-FFF2-40B4-BE49-F238E27FC236}">
                <a16:creationId xmlns:a16="http://schemas.microsoft.com/office/drawing/2014/main" id="{74B16085-D177-4BE4-8BD0-FF07ED97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6300216"/>
            <a:ext cx="98755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钓点体验</a:t>
            </a:r>
          </a:p>
        </p:txBody>
      </p:sp>
    </p:spTree>
    <p:extLst>
      <p:ext uri="{BB962C8B-B14F-4D97-AF65-F5344CB8AC3E}">
        <p14:creationId xmlns:p14="http://schemas.microsoft.com/office/powerpoint/2010/main" val="4383638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F98A95-3AC2-4C15-A368-EB653D04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2347F11-2540-4F02-8DEB-3A027314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04CDEAF-2ECD-47A1-B25E-9C555EEA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1FE6E70-7E54-45A5-8850-29D2E86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3698A21-1372-4984-8B63-1ABEF0E2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E369BCA-B878-49B3-AD85-F8BE6BD3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F16D8F8-D7D8-48DD-BE7F-603E874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003C67-91E0-4F97-B87B-EEC25C12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376C418-66C5-46B3-91E8-F99D41C2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核心功能：补全出钓全流程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D83F38F-6EF6-4677-AB7C-539D2A09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首页解决决策，社区沉淀内容，其他模块补全记录、学习和个人资产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A5DC612-4D53-4BBB-8F88-0BF20873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5074920" cy="1298448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BEA899E-0E81-4C23-BFE1-953387C9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5000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0bc25aad34d07">
            <a:extLst>
              <a:ext uri="{96DAC541-7B7A-43D3-8B79-37D633B846F1}">
                <asvg:svgBlip xmlns:asvg="http://schemas.microsoft.com/office/drawing/2016/SVG/main" r:embed="R58d872b315fa4f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821" y="2471989"/>
            <a:ext cx="286390" cy="286390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A3DF1DB-1B9C-4091-823F-93DD1014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2258568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发布页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39E69E0-789B-4842-A22A-0C729051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2624328"/>
            <a:ext cx="23774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鱼获 / 空军 / 探点记录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98A96DA-3359-4179-939C-D5BA78B5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2898648"/>
            <a:ext cx="34747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图片、鱼种、钓法、位置、隐私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7A532BC-ADB0-4828-A41D-C90AA64B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21992"/>
            <a:ext cx="640080" cy="74980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3E1D160-448F-4F37-8E44-5E716BDD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404872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BFF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54D0314-3037-4A94-8F66-0B7898CF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560320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BFF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AF2DE3-9524-4289-9A13-23A160CE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715768"/>
            <a:ext cx="329184" cy="146304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F60D301-9020-49B6-B497-CAA8A35E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65960"/>
            <a:ext cx="5074920" cy="1298448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DAE3A29-8CBF-4953-8EA1-7D0E8502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5000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4def792d2430b">
            <a:extLst>
              <a:ext uri="{96DAC541-7B7A-43D3-8B79-37D633B846F1}">
                <asvg:svgBlip xmlns:asvg="http://schemas.microsoft.com/office/drawing/2016/SVG/main" r:embed="Rdb7d98e3bf0145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9941" y="2471989"/>
            <a:ext cx="286390" cy="286390"/>
          </a:xfrm>
          <a:prstGeom xmlns:a="http://schemas.openxmlformats.org/drawingml/2006/main" prst="rect">
            <a:avLst/>
          </a:prstGeom>
        </p:spPr>
      </p:pic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5599E62-485D-4F82-9ACA-1A7F294C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2258568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记录页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57E4AC47-19FE-4851-B1A7-223E8D38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2624328"/>
            <a:ext cx="23774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出钓过程结构化保存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95AB208-75F5-4323-956F-F06AA8A1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2898648"/>
            <a:ext cx="34747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开竿计时、图文板块、收竿汇总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AA8BB6FF-CCC3-4765-A426-4462C25B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221992"/>
            <a:ext cx="640080" cy="74980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9727B72-6937-4C2B-9C0C-07C32E81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404872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BFF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E9D0E21D-A377-4816-92EB-88DF3A78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560320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BFF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9659960D-DF10-4DEE-A6B6-EFD3FE15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715768"/>
            <a:ext cx="329184" cy="146304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99A16EF5-69A1-46CA-80FB-815558C0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074920" cy="1298448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8CA3CA42-6F79-4CC8-98FE-BDC58E49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3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ac70dff194322">
            <a:extLst>
              <a:ext uri="{96DAC541-7B7A-43D3-8B79-37D633B846F1}">
                <asvg:svgBlip xmlns:asvg="http://schemas.microsoft.com/office/drawing/2016/SVG/main" r:embed="R59ea51ae91b1480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821" y="4163629"/>
            <a:ext cx="286390" cy="286390"/>
          </a:xfrm>
          <a:prstGeom xmlns:a="http://schemas.openxmlformats.org/drawingml/2006/main" prst="rect">
            <a:avLst/>
          </a:prstGeom>
        </p:spPr>
      </p:pic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B73D3452-FE28-4170-8DA8-78493672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3950208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教程页</a:t>
            </a:r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58751FAF-768F-4067-BFFC-A42DE71F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4315968"/>
            <a:ext cx="23774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新手学习路径入口</a:t>
            </a:r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6FCB2C98-DD32-496A-955E-4059A7CD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4" y="4590288"/>
            <a:ext cx="34747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鱼种、钓法、装备、场景教程</a:t>
            </a:r>
          </a:p>
        </p:txBody>
      </p:sp>
      <p:sp>
        <p:nvSpPr>
          <p:cNvPr id="38" name="Shape 33">
            <a:extLst xmlns:a="http://schemas.openxmlformats.org/drawingml/2006/main">
              <a:ext uri="{FF2B5EF4-FFF2-40B4-BE49-F238E27FC236}">
                <a16:creationId xmlns:a16="http://schemas.microsoft.com/office/drawing/2014/main" id="{6FAEF37F-80E0-4DCE-928D-39D1A98E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913632"/>
            <a:ext cx="640080" cy="74980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39" name="Shape 34">
            <a:extLst xmlns:a="http://schemas.openxmlformats.org/drawingml/2006/main">
              <a:ext uri="{FF2B5EF4-FFF2-40B4-BE49-F238E27FC236}">
                <a16:creationId xmlns:a16="http://schemas.microsoft.com/office/drawing/2014/main" id="{AC4B1D81-F81B-4674-88AD-77D9533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096512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BFF"/>
            </a:solidFill>
            <a:prstDash val="solid"/>
          </a:ln>
        </p:spPr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A111E863-32C8-41AB-B337-82C9F8D0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251960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BFF"/>
            </a:solidFill>
            <a:prstDash val="solid"/>
          </a:ln>
        </p:spPr>
      </p:sp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D8F30E69-56DC-4BE0-AF5F-EE32BC8A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407408"/>
            <a:ext cx="329184" cy="146304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D4A66BBA-ED1A-43AE-8335-CFD8449B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5074920" cy="1298448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50C52E5A-51D4-41C8-B0B5-5C4173AB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04164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4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e5e1f0ef5401a">
            <a:extLst>
              <a:ext uri="{96DAC541-7B7A-43D3-8B79-37D633B846F1}">
                <asvg:svgBlip xmlns:asvg="http://schemas.microsoft.com/office/drawing/2016/SVG/main" r:embed="R98691aa58abc4b0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9941" y="4163629"/>
            <a:ext cx="286390" cy="286390"/>
          </a:xfrm>
          <a:prstGeom xmlns:a="http://schemas.openxmlformats.org/drawingml/2006/main" prst="rect">
            <a:avLst/>
          </a:prstGeom>
        </p:spPr>
      </p:pic>
      <p:sp>
        <p:nvSpPr>
          <p:cNvPr id="45" name="Text 39">
            <a:extLst xmlns:a="http://schemas.openxmlformats.org/drawingml/2006/main">
              <a:ext uri="{FF2B5EF4-FFF2-40B4-BE49-F238E27FC236}">
                <a16:creationId xmlns:a16="http://schemas.microsoft.com/office/drawing/2014/main" id="{A8996438-12BF-45FB-ADC8-CD9BA1F4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3950208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我的页</a:t>
            </a:r>
          </a:p>
        </p:txBody>
      </p:sp>
      <p:sp>
        <p:nvSpPr>
          <p:cNvPr id="46" name="Text 40">
            <a:extLst xmlns:a="http://schemas.openxmlformats.org/drawingml/2006/main">
              <a:ext uri="{FF2B5EF4-FFF2-40B4-BE49-F238E27FC236}">
                <a16:creationId xmlns:a16="http://schemas.microsoft.com/office/drawing/2014/main" id="{4162EAC2-A160-4273-B8AC-30662A70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4315968"/>
            <a:ext cx="23774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个人战绩与资产沉淀</a:t>
            </a:r>
          </a:p>
        </p:txBody>
      </p:sp>
      <p:sp>
        <p:nvSpPr>
          <p:cNvPr id="47" name="Text 41">
            <a:extLst xmlns:a="http://schemas.openxmlformats.org/drawingml/2006/main">
              <a:ext uri="{FF2B5EF4-FFF2-40B4-BE49-F238E27FC236}">
                <a16:creationId xmlns:a16="http://schemas.microsoft.com/office/drawing/2014/main" id="{753E20DD-02ED-48ED-80DF-84ACB918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4590288"/>
            <a:ext cx="34747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收藏钓点、我的发布、月度报告</a:t>
            </a:r>
          </a:p>
        </p:txBody>
      </p:sp>
      <p:sp>
        <p:nvSpPr>
          <p:cNvPr id="48" name="Shape 42">
            <a:extLst xmlns:a="http://schemas.openxmlformats.org/drawingml/2006/main">
              <a:ext uri="{FF2B5EF4-FFF2-40B4-BE49-F238E27FC236}">
                <a16:creationId xmlns:a16="http://schemas.microsoft.com/office/drawing/2014/main" id="{D29F136A-907F-498B-B96D-0AC49072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3913632"/>
            <a:ext cx="640080" cy="74980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49" name="Shape 43">
            <a:extLst xmlns:a="http://schemas.openxmlformats.org/drawingml/2006/main">
              <a:ext uri="{FF2B5EF4-FFF2-40B4-BE49-F238E27FC236}">
                <a16:creationId xmlns:a16="http://schemas.microsoft.com/office/drawing/2014/main" id="{08A693D4-356B-4731-9274-1280A5EC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4096512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BFF"/>
            </a:solidFill>
            <a:prstDash val="solid"/>
          </a:ln>
        </p:spPr>
      </p:sp>
      <p:sp>
        <p:nvSpPr>
          <p:cNvPr id="50" name="Shape 44">
            <a:extLst xmlns:a="http://schemas.openxmlformats.org/drawingml/2006/main">
              <a:ext uri="{FF2B5EF4-FFF2-40B4-BE49-F238E27FC236}">
                <a16:creationId xmlns:a16="http://schemas.microsoft.com/office/drawing/2014/main" id="{0B16E5E7-E498-4835-9AE7-94B529BE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4251960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BFF"/>
            </a:solidFill>
            <a:prstDash val="solid"/>
          </a:ln>
        </p:spPr>
      </p:sp>
      <p:sp>
        <p:nvSpPr>
          <p:cNvPr id="51" name="Shape 45">
            <a:extLst xmlns:a="http://schemas.openxmlformats.org/drawingml/2006/main">
              <a:ext uri="{FF2B5EF4-FFF2-40B4-BE49-F238E27FC236}">
                <a16:creationId xmlns:a16="http://schemas.microsoft.com/office/drawing/2014/main" id="{99ACAC56-3EB0-4069-87D7-756D89B2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4407408"/>
            <a:ext cx="329184" cy="146304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sp>
        <p:nvSpPr>
          <p:cNvPr id="52" name="Shape 46">
            <a:extLst xmlns:a="http://schemas.openxmlformats.org/drawingml/2006/main">
              <a:ext uri="{FF2B5EF4-FFF2-40B4-BE49-F238E27FC236}">
                <a16:creationId xmlns:a16="http://schemas.microsoft.com/office/drawing/2014/main" id="{1BF295BB-FC29-4CD3-9BDF-AACC39BD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715000"/>
            <a:ext cx="9555480" cy="47548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53" name="Text 47">
            <a:extLst xmlns:a="http://schemas.openxmlformats.org/drawingml/2006/main">
              <a:ext uri="{FF2B5EF4-FFF2-40B4-BE49-F238E27FC236}">
                <a16:creationId xmlns:a16="http://schemas.microsoft.com/office/drawing/2014/main" id="{271D6D90-77A4-430F-8779-FB6C0E52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870448"/>
            <a:ext cx="905256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闭环补全：发布沉淀内容，记录沉淀过程，教程降低门槛，我的页形成长期资产。</a:t>
            </a:r>
          </a:p>
        </p:txBody>
      </p:sp>
    </p:spTree>
    <p:extLst>
      <p:ext uri="{BB962C8B-B14F-4D97-AF65-F5344CB8AC3E}">
        <p14:creationId xmlns:p14="http://schemas.microsoft.com/office/powerpoint/2010/main" val="7176311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EC4119-5E08-4860-8136-E00135A9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A65E5D5-1615-4CBC-94D5-2E4DAB83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DF434DD-3891-47F7-BC38-3FE70DA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894D63F-9B5C-4332-96A8-323515AB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3EBEF6A-D165-4CFD-B916-0972507B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5BA72E1-EE06-48B0-A51F-B82F13FB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479BEF4-37BE-4C46-A075-1BC6A9F2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3D4B6A6-A1D9-4B52-BC8B-159E8B50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C4574FA-CF71-48E3-A57D-BA50B2A4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技术架构与推荐机制：可控规则优先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9E823E6-8A74-49E8-BD46-517DF533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前端展示、后端规则与 mock 数据共同支撑 MVP 演示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D5795CF-37BA-487F-B742-1E0B7FB9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20"/>
            <a:ext cx="5303520" cy="3520440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617DA7-5061-43EA-81AC-F0E4F507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48840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791D73B-FCB2-4742-80DC-F508F0ED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78608"/>
            <a:ext cx="3063240" cy="621792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9ef47d2f84c74">
            <a:extLst>
              <a:ext uri="{96DAC541-7B7A-43D3-8B79-37D633B846F1}">
                <asvg:svgBlip xmlns:asvg="http://schemas.microsoft.com/office/drawing/2016/SVG/main" r:embed="Rcfd64839c2664c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77063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64033F5-7BBC-4311-A772-E3D2A7A7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724912"/>
            <a:ext cx="1005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Frontend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AA8F06F-6A71-47A8-9628-9E40D9A5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944368"/>
            <a:ext cx="20848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Vue3 + Vite + Element Plus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BF77FE3-E05C-4B0F-9523-1E01ED8B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321868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02A56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E230681-BB8D-4292-84A4-B47290DC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74720"/>
            <a:ext cx="3063240" cy="621792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8F2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64dc732b34335">
            <a:extLst>
              <a:ext uri="{96DAC541-7B7A-43D3-8B79-37D633B846F1}">
                <asvg:svgBlip xmlns:asvg="http://schemas.microsoft.com/office/drawing/2016/SVG/main" r:embed="R17d9245f87764c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366674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6C4CDF8D-3AD4-435C-8ED8-C0A0016C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621024"/>
            <a:ext cx="1005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D5F81ED-FAB5-4F3B-91A6-EB232187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840480"/>
            <a:ext cx="20848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FastAPI 路由与服务层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AD85BC07-3537-4481-AB33-20AE6F57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1148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02A56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1A27B56-489E-4B7C-AA78-EEE25CA1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70832"/>
            <a:ext cx="3063240" cy="621792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4ae6dbcd1428d">
            <a:extLst>
              <a:ext uri="{96DAC541-7B7A-43D3-8B79-37D633B846F1}">
                <asvg:svgBlip xmlns:asvg="http://schemas.microsoft.com/office/drawing/2016/SVG/main" r:embed="R69717fc38f694a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456285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C82B11C9-94D9-4284-A488-64AC23C9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517136"/>
            <a:ext cx="1005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DA16A51A-3330-435A-BD52-7B897ADA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736592"/>
            <a:ext cx="20848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JSON Mock Data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169725D5-7027-4AF0-B1C9-1D5F6B20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670048"/>
            <a:ext cx="1234440" cy="420624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9d4bb6b814a05">
            <a:extLst>
              <a:ext uri="{96DAC541-7B7A-43D3-8B79-37D633B846F1}">
                <asvg:svgBlip xmlns:asvg="http://schemas.microsoft.com/office/drawing/2016/SVG/main" r:embed="R7dc86584d557403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8848" y="2779776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A497B67E-A132-4667-9648-CEC57C9F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798064"/>
            <a:ext cx="71323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高德地图预留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AFBEFDC-A630-4503-98A9-2E4DF999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3364992"/>
            <a:ext cx="1234440" cy="420624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pic>
        <p:nvPicPr>
          <p:cNvPr id="3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aa4e52c514c12">
            <a:extLst>
              <a:ext uri="{96DAC541-7B7A-43D3-8B79-37D633B846F1}">
                <asvg:svgBlip xmlns:asvg="http://schemas.microsoft.com/office/drawing/2016/SVG/main" r:embed="Rc5a4aa5cdda848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8848" y="3474720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D73A360D-1FD9-4173-A000-81B793EA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493008"/>
            <a:ext cx="71323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天气接口预留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A5207200-9C6A-4DDF-B5A8-832A17C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059936"/>
            <a:ext cx="1234440" cy="420624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pic>
        <p:nvPicPr>
          <p:cNvPr id="3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46872f74746fe">
            <a:extLst>
              <a:ext uri="{96DAC541-7B7A-43D3-8B79-37D633B846F1}">
                <asvg:svgBlip xmlns:asvg="http://schemas.microsoft.com/office/drawing/2016/SVG/main" r:embed="Rcbca74668f524a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8848" y="4169664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FBDA340A-282D-4CD2-B43F-92FB743E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187952"/>
            <a:ext cx="71323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AI 解释预留</a:t>
            </a:r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CF45FBC2-F75E-4155-ADCD-08CEC849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74520"/>
            <a:ext cx="5303520" cy="3520440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8936463C-37D2-43F9-ADB9-B004A1DC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48840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推荐分解样例</a:t>
            </a:r>
          </a:p>
        </p:txBody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470B24F7-6D1D-4FA9-B229-51F25A02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70048"/>
            <a:ext cx="1335024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5682BD39-C96D-44AC-B022-4BB3B148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61488"/>
            <a:ext cx="65836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鱼情分</a:t>
            </a:r>
          </a:p>
        </p:txBody>
      </p:sp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C3221F2B-6D40-4FD2-A90D-BAE1AC72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2807208"/>
            <a:ext cx="4206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88</a:t>
            </a:r>
          </a:p>
        </p:txBody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5DFD4A20-0C24-4FF5-9D18-39654DAB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670048"/>
            <a:ext cx="1335024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8EEA5E5B-BB89-4A51-BF5A-1B45065E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761488"/>
            <a:ext cx="65836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合规分</a:t>
            </a:r>
          </a:p>
        </p:txBody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390734D3-9776-4CED-B18F-6F87F940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2807208"/>
            <a:ext cx="4206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91</a:t>
            </a:r>
          </a:p>
        </p:txBody>
      </p:sp>
      <p:sp>
        <p:nvSpPr>
          <p:cNvPr id="45" name="Shape 37">
            <a:extLst xmlns:a="http://schemas.openxmlformats.org/drawingml/2006/main">
              <a:ext uri="{FF2B5EF4-FFF2-40B4-BE49-F238E27FC236}">
                <a16:creationId xmlns:a16="http://schemas.microsoft.com/office/drawing/2014/main" id="{0A27E94C-394B-4DD1-99BD-0A7CF3EE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670048"/>
            <a:ext cx="1335024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46" name="Text 38">
            <a:extLst xmlns:a="http://schemas.openxmlformats.org/drawingml/2006/main">
              <a:ext uri="{FF2B5EF4-FFF2-40B4-BE49-F238E27FC236}">
                <a16:creationId xmlns:a16="http://schemas.microsoft.com/office/drawing/2014/main" id="{6C309B5A-3F4F-4675-93AB-1B8BE4EF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61488"/>
            <a:ext cx="65836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距离分</a:t>
            </a:r>
          </a:p>
        </p:txBody>
      </p:sp>
      <p:sp>
        <p:nvSpPr>
          <p:cNvPr id="47" name="Text 39">
            <a:extLst xmlns:a="http://schemas.openxmlformats.org/drawingml/2006/main">
              <a:ext uri="{FF2B5EF4-FFF2-40B4-BE49-F238E27FC236}">
                <a16:creationId xmlns:a16="http://schemas.microsoft.com/office/drawing/2014/main" id="{87470FD3-C02A-4BFB-AF82-B1BCD40B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744" y="2807208"/>
            <a:ext cx="4206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2.4km</a:t>
            </a:r>
          </a:p>
        </p:txBody>
      </p:sp>
      <p:sp>
        <p:nvSpPr>
          <p:cNvPr id="48" name="Shape 40">
            <a:extLst xmlns:a="http://schemas.openxmlformats.org/drawingml/2006/main">
              <a:ext uri="{FF2B5EF4-FFF2-40B4-BE49-F238E27FC236}">
                <a16:creationId xmlns:a16="http://schemas.microsoft.com/office/drawing/2014/main" id="{6DA14557-98FE-48BC-B540-85FB2B45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19856"/>
            <a:ext cx="1335024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D174B28C-1DCF-4E42-A246-C51CF2B7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65836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天气分</a:t>
            </a:r>
          </a:p>
        </p:txBody>
      </p:sp>
      <p:sp>
        <p:nvSpPr>
          <p:cNvPr id="50" name="Text 42">
            <a:extLst xmlns:a="http://schemas.openxmlformats.org/drawingml/2006/main">
              <a:ext uri="{FF2B5EF4-FFF2-40B4-BE49-F238E27FC236}">
                <a16:creationId xmlns:a16="http://schemas.microsoft.com/office/drawing/2014/main" id="{A3196C2E-09C1-430D-9EE4-CB452BE3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557016"/>
            <a:ext cx="4206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0B7CFF"/>
                </a:solidFill>
                <a:latin typeface="Microsoft YaHei"/>
                <a:ea typeface="Microsoft YaHei"/>
                <a:cs typeface="Microsoft YaHei"/>
              </a:rPr>
              <a:t>风力2级</a:t>
            </a:r>
          </a:p>
        </p:txBody>
      </p:sp>
      <p:sp>
        <p:nvSpPr>
          <p:cNvPr id="51" name="Shape 43">
            <a:extLst xmlns:a="http://schemas.openxmlformats.org/drawingml/2006/main">
              <a:ext uri="{FF2B5EF4-FFF2-40B4-BE49-F238E27FC236}">
                <a16:creationId xmlns:a16="http://schemas.microsoft.com/office/drawing/2014/main" id="{E87B15CF-0104-43E2-AB97-55CF4D8B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419856"/>
            <a:ext cx="1335024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52" name="Text 44">
            <a:extLst xmlns:a="http://schemas.openxmlformats.org/drawingml/2006/main">
              <a:ext uri="{FF2B5EF4-FFF2-40B4-BE49-F238E27FC236}">
                <a16:creationId xmlns:a16="http://schemas.microsoft.com/office/drawing/2014/main" id="{5BACA319-57DF-46F3-A5FA-F63BD555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511296"/>
            <a:ext cx="65836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设施分</a:t>
            </a:r>
          </a:p>
        </p:txBody>
      </p:sp>
      <p:sp>
        <p:nvSpPr>
          <p:cNvPr id="53" name="Text 45">
            <a:extLst xmlns:a="http://schemas.openxmlformats.org/drawingml/2006/main">
              <a:ext uri="{FF2B5EF4-FFF2-40B4-BE49-F238E27FC236}">
                <a16:creationId xmlns:a16="http://schemas.microsoft.com/office/drawing/2014/main" id="{86D15806-C075-434F-AE7D-A72A26EE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3557016"/>
            <a:ext cx="4206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sp>
        <p:nvSpPr>
          <p:cNvPr id="54" name="Shape 46">
            <a:extLst xmlns:a="http://schemas.openxmlformats.org/drawingml/2006/main">
              <a:ext uri="{FF2B5EF4-FFF2-40B4-BE49-F238E27FC236}">
                <a16:creationId xmlns:a16="http://schemas.microsoft.com/office/drawing/2014/main" id="{4EB02D92-6783-4563-B3EE-8D995E0D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419856"/>
            <a:ext cx="1335024" cy="493776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</p:spPr>
      </p:sp>
      <p:sp>
        <p:nvSpPr>
          <p:cNvPr id="55" name="Text 47">
            <a:extLst xmlns:a="http://schemas.openxmlformats.org/drawingml/2006/main">
              <a:ext uri="{FF2B5EF4-FFF2-40B4-BE49-F238E27FC236}">
                <a16:creationId xmlns:a16="http://schemas.microsoft.com/office/drawing/2014/main" id="{E4B81307-F4E6-4CAB-8FBC-978781EC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11296"/>
            <a:ext cx="65836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社交热度</a:t>
            </a:r>
          </a:p>
        </p:txBody>
      </p:sp>
      <p:sp>
        <p:nvSpPr>
          <p:cNvPr id="56" name="Text 48">
            <a:extLst xmlns:a="http://schemas.openxmlformats.org/drawingml/2006/main">
              <a:ext uri="{FF2B5EF4-FFF2-40B4-BE49-F238E27FC236}">
                <a16:creationId xmlns:a16="http://schemas.microsoft.com/office/drawing/2014/main" id="{DC4F6CB0-9AC7-413A-8CBB-2689CA2B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744" y="3557016"/>
            <a:ext cx="4206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rPr>
              <a:t>78</a:t>
            </a:r>
          </a:p>
        </p:txBody>
      </p:sp>
      <p:sp>
        <p:nvSpPr>
          <p:cNvPr id="57" name="Shape 49">
            <a:extLst xmlns:a="http://schemas.openxmlformats.org/drawingml/2006/main">
              <a:ext uri="{FF2B5EF4-FFF2-40B4-BE49-F238E27FC236}">
                <a16:creationId xmlns:a16="http://schemas.microsoft.com/office/drawing/2014/main" id="{FC656554-26A1-491B-A3EB-721E4DF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42816"/>
            <a:ext cx="434340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pic>
        <p:nvPicPr>
          <p:cNvPr id="5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fea49fdf04e9e">
            <a:extLst>
              <a:ext uri="{96DAC541-7B7A-43D3-8B79-37D633B846F1}">
                <asvg:svgBlip xmlns:asvg="http://schemas.microsoft.com/office/drawing/2016/SVG/main" r:embed="Rcc24c57eb0094e3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2280" y="438912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59" name="Text 50">
            <a:extLst xmlns:a="http://schemas.openxmlformats.org/drawingml/2006/main">
              <a:ext uri="{FF2B5EF4-FFF2-40B4-BE49-F238E27FC236}">
                <a16:creationId xmlns:a16="http://schemas.microsoft.com/office/drawing/2014/main" id="{1C19FB8D-040A-4EA1-B318-E52B2DBC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416552"/>
            <a:ext cx="310896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规则排序在后端，AI 只负责解释与摘要</a:t>
            </a:r>
          </a:p>
        </p:txBody>
      </p:sp>
      <p:sp>
        <p:nvSpPr>
          <p:cNvPr id="60" name="Shape 51">
            <a:extLst xmlns:a="http://schemas.openxmlformats.org/drawingml/2006/main">
              <a:ext uri="{FF2B5EF4-FFF2-40B4-BE49-F238E27FC236}">
                <a16:creationId xmlns:a16="http://schemas.microsoft.com/office/drawing/2014/main" id="{45ABECCF-B033-4F1A-AB0A-D335BE64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715000"/>
            <a:ext cx="10195560" cy="475488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61" name="Text 52">
            <a:extLst xmlns:a="http://schemas.openxmlformats.org/drawingml/2006/main">
              <a:ext uri="{FF2B5EF4-FFF2-40B4-BE49-F238E27FC236}">
                <a16:creationId xmlns:a16="http://schemas.microsoft.com/office/drawing/2014/main" id="{204D7CE5-1EA5-40A3-A186-97DD47CC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861304"/>
            <a:ext cx="9326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系统设计原则：推荐排序由后端规则模型控制，避免大模型直接决定合规与安全判断。</a:t>
            </a:r>
          </a:p>
        </p:txBody>
      </p:sp>
    </p:spTree>
    <p:extLst>
      <p:ext uri="{BB962C8B-B14F-4D97-AF65-F5344CB8AC3E}">
        <p14:creationId xmlns:p14="http://schemas.microsoft.com/office/powerpoint/2010/main" val="6016525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D8D113-D96B-47ED-9145-1A426381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3CA4BA5-1BB2-43E7-9200-95AA3B83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05DDF77-3FBE-4179-A3B0-7C3C99F0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1FF52A-1779-49FD-9795-6A1EFE56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97EE042-2438-414C-961F-6074CC24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E1AC0E-ECB8-4339-85E5-62019877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151F96B-9260-4AD4-AECC-6A2981F8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566683-ED79-4E37-A1BC-6CD44ABC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10972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BAEEE19-27B9-40DE-8C14-421A9EC4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96112"/>
            <a:ext cx="107899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当前成果：完成可演示 MVP，边界清晰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E59C466-87B4-4A66-B5C2-EA90A7D4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63040"/>
            <a:ext cx="10515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用完成度矩阵说明已完成、部分完成和后续迭代，避免夸大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C949DB2-BD18-42FB-B1CA-81A25626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8528"/>
            <a:ext cx="3401568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5082357-04EF-4A02-9920-71530434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627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2"/>
          </a:solidFill>
          <a:ln xmlns:a="http://schemas.openxmlformats.org/drawingml/2006/main" w="12700">
            <a:solidFill>
              <a:srgbClr val="E9F8F2"/>
            </a:solidFill>
            <a:prstDash val="solid"/>
          </a:ln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bcdb7cf9147fa">
            <a:extLst>
              <a:ext uri="{96DAC541-7B7A-43D3-8B79-37D633B846F1}">
                <asvg:svgBlip xmlns:asvg="http://schemas.microsoft.com/office/drawing/2016/SVG/main" r:embed="R8373b26c918445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350" y="2277222"/>
            <a:ext cx="237012" cy="237012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4BEB100-3914-4B24-834B-9730CAFB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249424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42B883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7117CFE-5825-4625-AA24-0DC609BE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3464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12700">
            <a:solidFill>
              <a:srgbClr val="42B883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663EB4D-BFF7-4C07-B7D5-81227314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70632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首页 / 地图 / POI 详情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A3EAB7D-FD02-445F-B64C-0CD42BC3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21868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12700">
            <a:solidFill>
              <a:srgbClr val="42B883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61763FD-6559-426B-A1B6-E6CFC2B6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154680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社区流 / 帖子详情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EA5C1C5-D2F4-4929-B963-4FB1957C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027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12700">
            <a:solidFill>
              <a:srgbClr val="42B883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0053C06-5335-45C0-ADBA-C63BC0A8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38728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发布 / 记录 / 教程 / 我的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7BF8F92-7980-4EF3-9F66-A6D27742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8678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12700">
            <a:solidFill>
              <a:srgbClr val="42B883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DAA8F7D-68C0-4AB3-AC0E-1EF8D9F3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22776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FastAPI 核心接口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7BD97EF-0156-4D72-9C6F-AE919234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708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12700">
            <a:solidFill>
              <a:srgbClr val="42B883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CEEDA57-B0A1-4747-9BCA-39EE83B2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06824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JSON mock 数据与规则推荐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2BF5F12-2A81-4FC3-8A07-36AE4B57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38528"/>
            <a:ext cx="3401568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14CEC619-1DF4-4DAE-8073-EBE9A5A6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17627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12700">
            <a:solidFill>
              <a:srgbClr val="FFF3E4"/>
            </a:solidFill>
            <a:prstDash val="solid"/>
          </a:ln>
        </p:spPr>
      </p:sp>
      <p:pic>
        <p:nvPicPr>
          <p:cNvPr id="2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091fc08e84fcd">
            <a:extLst>
              <a:ext uri="{96DAC541-7B7A-43D3-8B79-37D633B846F1}">
                <asvg:svgBlip xmlns:asvg="http://schemas.microsoft.com/office/drawing/2016/SVG/main" r:embed="R2b35d52879a646d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10" y="2277222"/>
            <a:ext cx="237012" cy="237012"/>
          </a:xfrm>
          <a:prstGeom xmlns:a="http://schemas.openxmlformats.org/drawingml/2006/main" prst="rect">
            <a:avLst/>
          </a:prstGeom>
        </p:spPr>
      </p:pic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3518458-8FAD-4E02-BA00-9CF5CA4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249424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9F1C"/>
                </a:solidFill>
                <a:latin typeface="Microsoft YaHei"/>
                <a:ea typeface="Microsoft YaHei"/>
                <a:cs typeface="Microsoft YaHei"/>
              </a:rPr>
              <a:t>部分完成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64CFB08-F9E8-4294-9238-9B683F72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3464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12700">
            <a:solidFill>
              <a:srgbClr val="FF9F1C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F3241C1D-7D40-4482-9AD9-C3AE286D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70632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高德地图配置与加载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5EF4242E-1EA0-44D2-B17A-7EC99F72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1868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12700">
            <a:solidFill>
              <a:srgbClr val="FF9F1C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ABE9F21-2420-418C-A741-895EA514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154680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天气服务封装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2752FE30-FDEC-4425-871D-6A4A7CA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027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12700">
            <a:solidFill>
              <a:srgbClr val="FF9F1C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4FEE7E13-D1A7-4793-8BE0-FB892DB9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538728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AI 解释接口</a:t>
            </a:r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2041DC8D-EE8D-44D1-8F2D-5F86C21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8678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12700">
            <a:solidFill>
              <a:srgbClr val="FF9F1C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39610D58-08B7-4AB7-A126-0CF7D4F2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922776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前端发布到社区流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71857FCC-6AC9-472B-BE18-18AB03D5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708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12700">
            <a:solidFill>
              <a:srgbClr val="FF9F1C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32C37C7B-923B-403B-854D-FAB392B6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306824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记录进程内保存</a:t>
            </a:r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E6E28815-0356-4D0B-A1C3-859F494D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38528"/>
            <a:ext cx="3401568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D87E2A9B-ACD3-4BAF-B331-9ED47103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17627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F0EDFF"/>
            </a:solidFill>
            <a:prstDash val="solid"/>
          </a:ln>
        </p:spPr>
      </p:sp>
      <p:pic>
        <p:nvPicPr>
          <p:cNvPr id="4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ff849c9024daa">
            <a:extLst>
              <a:ext uri="{96DAC541-7B7A-43D3-8B79-37D633B846F1}">
                <asvg:svgBlip xmlns:asvg="http://schemas.microsoft.com/office/drawing/2016/SVG/main" r:embed="Rced053696bf34b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04870" y="2277222"/>
            <a:ext cx="237012" cy="237012"/>
          </a:xfrm>
          <a:prstGeom xmlns:a="http://schemas.openxmlformats.org/drawingml/2006/main" prst="rect">
            <a:avLst/>
          </a:prstGeom>
        </p:spPr>
      </p:pic>
      <p:sp>
        <p:nvSpPr>
          <p:cNvPr id="43" name="Text 38">
            <a:extLst xmlns:a="http://schemas.openxmlformats.org/drawingml/2006/main">
              <a:ext uri="{FF2B5EF4-FFF2-40B4-BE49-F238E27FC236}">
                <a16:creationId xmlns:a16="http://schemas.microsoft.com/office/drawing/2014/main" id="{BEC2491A-04BA-41F4-B8E6-0518C8CB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249424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rPr>
              <a:t>后续迭代</a:t>
            </a:r>
          </a:p>
        </p:txBody>
      </p:sp>
      <p:sp>
        <p:nvSpPr>
          <p:cNvPr id="44" name="Shape 39">
            <a:extLst xmlns:a="http://schemas.openxmlformats.org/drawingml/2006/main">
              <a:ext uri="{FF2B5EF4-FFF2-40B4-BE49-F238E27FC236}">
                <a16:creationId xmlns:a16="http://schemas.microsoft.com/office/drawing/2014/main" id="{266140E4-AC4D-47F9-BEC7-CA37E7CB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83464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45" name="Text 40">
            <a:extLst xmlns:a="http://schemas.openxmlformats.org/drawingml/2006/main">
              <a:ext uri="{FF2B5EF4-FFF2-40B4-BE49-F238E27FC236}">
                <a16:creationId xmlns:a16="http://schemas.microsoft.com/office/drawing/2014/main" id="{1E8A8923-C660-42A6-8FF1-705CD8B8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70632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正式数据库与账号系统</a:t>
            </a:r>
          </a:p>
        </p:txBody>
      </p:sp>
      <p:sp>
        <p:nvSpPr>
          <p:cNvPr id="46" name="Shape 41">
            <a:extLst xmlns:a="http://schemas.openxmlformats.org/drawingml/2006/main">
              <a:ext uri="{FF2B5EF4-FFF2-40B4-BE49-F238E27FC236}">
                <a16:creationId xmlns:a16="http://schemas.microsoft.com/office/drawing/2014/main" id="{DE535DDA-BF68-4FBF-8B89-C2DF71B2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21868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913E6577-ABFF-4355-9178-DBCBB4A2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54680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真实互动关系</a:t>
            </a:r>
          </a:p>
        </p:txBody>
      </p:sp>
      <p:sp>
        <p:nvSpPr>
          <p:cNvPr id="48" name="Shape 43">
            <a:extLst xmlns:a="http://schemas.openxmlformats.org/drawingml/2006/main">
              <a:ext uri="{FF2B5EF4-FFF2-40B4-BE49-F238E27FC236}">
                <a16:creationId xmlns:a16="http://schemas.microsoft.com/office/drawing/2014/main" id="{AC14EF6A-780E-4F8A-943C-96AB187C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6027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49" name="Text 44">
            <a:extLst xmlns:a="http://schemas.openxmlformats.org/drawingml/2006/main">
              <a:ext uri="{FF2B5EF4-FFF2-40B4-BE49-F238E27FC236}">
                <a16:creationId xmlns:a16="http://schemas.microsoft.com/office/drawing/2014/main" id="{77C1D79F-0D33-4815-A851-38ADA164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538728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禁渔区数据合作</a:t>
            </a:r>
          </a:p>
        </p:txBody>
      </p:sp>
      <p:sp>
        <p:nvSpPr>
          <p:cNvPr id="50" name="Shape 45">
            <a:extLst xmlns:a="http://schemas.openxmlformats.org/drawingml/2006/main">
              <a:ext uri="{FF2B5EF4-FFF2-40B4-BE49-F238E27FC236}">
                <a16:creationId xmlns:a16="http://schemas.microsoft.com/office/drawing/2014/main" id="{7006ECE8-2595-4F3A-8D15-038D16E8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98678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51" name="Text 46">
            <a:extLst xmlns:a="http://schemas.openxmlformats.org/drawingml/2006/main">
              <a:ext uri="{FF2B5EF4-FFF2-40B4-BE49-F238E27FC236}">
                <a16:creationId xmlns:a16="http://schemas.microsoft.com/office/drawing/2014/main" id="{B474C59D-CDC5-43FF-9F11-5F0044BF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922776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用户新增 POI 审核</a:t>
            </a:r>
          </a:p>
        </p:txBody>
      </p:sp>
      <p:sp>
        <p:nvSpPr>
          <p:cNvPr id="52" name="Shape 47">
            <a:extLst xmlns:a="http://schemas.openxmlformats.org/drawingml/2006/main">
              <a:ext uri="{FF2B5EF4-FFF2-40B4-BE49-F238E27FC236}">
                <a16:creationId xmlns:a16="http://schemas.microsoft.com/office/drawing/2014/main" id="{FE8D45B6-E3B2-4910-995C-182681A5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37083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12700">
            <a:solidFill>
              <a:srgbClr val="7B61FF"/>
            </a:solidFill>
            <a:prstDash val="solid"/>
          </a:ln>
        </p:spPr>
      </p:sp>
      <p:sp>
        <p:nvSpPr>
          <p:cNvPr id="53" name="Text 48">
            <a:extLst xmlns:a="http://schemas.openxmlformats.org/drawingml/2006/main">
              <a:ext uri="{FF2B5EF4-FFF2-40B4-BE49-F238E27FC236}">
                <a16:creationId xmlns:a16="http://schemas.microsoft.com/office/drawing/2014/main" id="{A1607A58-B282-463E-8E52-1EB6A7FF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306824"/>
            <a:ext cx="2423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E5F78"/>
                </a:solidFill>
                <a:latin typeface="Microsoft YaHei"/>
                <a:ea typeface="Microsoft YaHei"/>
                <a:cs typeface="Microsoft YaHei"/>
              </a:rPr>
              <a:t>会员 / 商户系统</a:t>
            </a:r>
          </a:p>
        </p:txBody>
      </p:sp>
      <p:sp>
        <p:nvSpPr>
          <p:cNvPr id="54" name="Shape 49">
            <a:extLst xmlns:a="http://schemas.openxmlformats.org/drawingml/2006/main">
              <a:ext uri="{FF2B5EF4-FFF2-40B4-BE49-F238E27FC236}">
                <a16:creationId xmlns:a16="http://schemas.microsoft.com/office/drawing/2014/main" id="{28BC8718-0B82-40C8-8FA9-3DB4C8E2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77840"/>
            <a:ext cx="10652760" cy="53035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55" name="Text 50">
            <a:extLst xmlns:a="http://schemas.openxmlformats.org/drawingml/2006/main">
              <a:ext uri="{FF2B5EF4-FFF2-40B4-BE49-F238E27FC236}">
                <a16:creationId xmlns:a16="http://schemas.microsoft.com/office/drawing/2014/main" id="{31C2327B-A43D-4979-8DEA-EB7F257F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742432"/>
            <a:ext cx="101498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接口证据建议：/api/pois  ·  /api/feed  ·  /api/recommendations</a:t>
            </a:r>
          </a:p>
        </p:txBody>
      </p:sp>
      <p:sp>
        <p:nvSpPr>
          <p:cNvPr id="56" name="Text 51">
            <a:extLst xmlns:a="http://schemas.openxmlformats.org/drawingml/2006/main">
              <a:ext uri="{FF2B5EF4-FFF2-40B4-BE49-F238E27FC236}">
                <a16:creationId xmlns:a16="http://schemas.microsoft.com/office/drawing/2014/main" id="{EC09E420-B0AE-40AA-88C7-7B9456B7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09360"/>
            <a:ext cx="548640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说明：当前以 mock 数据支撑演示，不等同于正式上线系统。</a:t>
            </a:r>
          </a:p>
        </p:txBody>
      </p:sp>
    </p:spTree>
    <p:extLst>
      <p:ext uri="{BB962C8B-B14F-4D97-AF65-F5344CB8AC3E}">
        <p14:creationId xmlns:p14="http://schemas.microsoft.com/office/powerpoint/2010/main" val="7621945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7B6029E-08D3-4867-8B1C-9B4E8A8C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05840" y="-914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90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FD48239-4F0D-4A70-A05E-0B620A14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94960"/>
            <a:ext cx="310896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>
              <a:alpha val="55000"/>
            </a:srgbClr>
          </a:solidFill>
          <a:ln xmlns:a="http://schemas.openxmlformats.org/drawingml/2006/main" w="12700">
            <a:solidFill>
              <a:srgbClr val="DCEEFF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2A83641-3CCF-4BF6-8D53-FD59F936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57200" y="5989320"/>
            <a:ext cx="6858000" cy="1645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>
              <a:alpha val="75000"/>
            </a:srgbClr>
          </a:solidFill>
          <a:ln xmlns:a="http://schemas.openxmlformats.org/drawingml/2006/main"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1EDAC1-5FD1-403E-BB5E-808A83B9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i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FishMan / 鱼你有图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7D03A1C-BE28-4C98-8481-0BB53862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"/>
            <a:ext cx="4754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7CFF"/>
          </a:solidFill>
          <a:ln xmlns:a="http://schemas.openxmlformats.org/drawingml/2006/main" w="12700">
            <a:solidFill>
              <a:srgbClr val="0B7C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BB3760-A53B-4509-8A33-9F86CC5B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4754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0FC8E5-3276-4EF4-B4AD-9AB53A40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83464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GO · FISH · RECORD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5483C05-3334-4F67-A716-523957E4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1440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迭代远景：从 MVP 到垂钓空间数据服务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22921A7-A5AD-4087-9A58-35F1072A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481328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先沉淀数据，再扩展服务，最终形成可持续的休闲渔业数字化入口。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351F9F1-F7C7-4148-B5AB-202207ED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94560"/>
            <a:ext cx="3154680" cy="187452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9406871-08B9-4CF8-8A73-64D41426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542032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EAF4FF"/>
            </a:solidFill>
            <a:prstDash val="solid"/>
          </a:ln>
        </p:spPr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d22eb3ded4e78">
            <a:extLst>
              <a:ext uri="{96DAC541-7B7A-43D3-8B79-37D633B846F1}">
                <asvg:svgBlip xmlns:asvg="http://schemas.microsoft.com/office/drawing/2016/SVG/main" r:embed="R34211f5bdcb449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9040" y="2676632"/>
            <a:ext cx="316017" cy="316017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E3C0AF4-14B3-4156-B3E1-A54D4164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587752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数据增长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738C15B-8687-4F8F-BC65-4B3F4FA2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23774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用户新增 POI、纠错、鱼获热力、空军负样本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C3EB349-3BDF-4A69-BD61-8FD58767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10896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7CFF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F41C647-92C1-434F-9F71-13C53940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194560"/>
            <a:ext cx="3154680" cy="187452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9408AEE-1FD5-4760-91A4-FBC06123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2542032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2"/>
          </a:solidFill>
          <a:ln xmlns:a="http://schemas.openxmlformats.org/drawingml/2006/main" w="12700">
            <a:solidFill>
              <a:srgbClr val="E9F8F2"/>
            </a:solidFill>
            <a:prstDash val="solid"/>
          </a:ln>
        </p:spPr>
      </p:sp>
      <p:pic>
        <p:nvPicPr>
          <p:cNvPr id="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0fd9c0acd4d30">
            <a:extLst>
              <a:ext uri="{96DAC541-7B7A-43D3-8B79-37D633B846F1}">
                <asvg:svgBlip xmlns:asvg="http://schemas.microsoft.com/office/drawing/2016/SVG/main" r:embed="Rdb085cddc43947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36368" y="2676632"/>
            <a:ext cx="316017" cy="316017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080C07B0-00D2-4886-8561-059E3572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87752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服务增长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04A000E-5A61-4EB1-B7D7-23DF2E29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768" y="3246120"/>
            <a:ext cx="23774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同城话题、收藏提醒、推荐优化、个人复盘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3212FA3-AC3C-4B58-B548-1FAA9EEE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10896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7CFF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8C728A2-93E5-48CC-B32B-CDB2FA59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2194560"/>
            <a:ext cx="3154680" cy="187452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76518EE2-9310-4604-8D64-41A7C73E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2542032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12700">
            <a:solidFill>
              <a:srgbClr val="FFF3E4"/>
            </a:solidFill>
            <a:prstDash val="solid"/>
          </a:ln>
        </p:spPr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9bfd2ec514bd9">
            <a:extLst>
              <a:ext uri="{96DAC541-7B7A-43D3-8B79-37D633B846F1}">
                <asvg:svgBlip xmlns:asvg="http://schemas.microsoft.com/office/drawing/2016/SVG/main" r:embed="Rbedbbbf7c8bb47f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3696" y="2676632"/>
            <a:ext cx="316017" cy="316017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C362216A-B855-4AF6-8D7A-39E90354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2587752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商业增长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E7D722A6-0E75-4A84-B6E1-D12E2CBE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3246120"/>
            <a:ext cx="23774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会员报告、钓场主页、预约与榜单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98C8F921-19B4-4A99-8606-82657869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709160"/>
            <a:ext cx="973836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55A2BCE7-756E-4294-8F6A-B82BE32A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974336"/>
            <a:ext cx="8915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鱼你有图把一次垂钓出行从找点、判断、记录到分享，沉淀成可复用的空间数据闭环。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E74E113D-85EF-43E9-8293-2BF397E2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760720"/>
            <a:ext cx="8138160" cy="420624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700">
            <a:solidFill>
              <a:srgbClr val="D9E9FF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1A54A0">
                <a:alpha val="8000"/>
              </a:srgbClr>
            </a:outerShdw>
          </a:effectLst>
        </p:spPr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3E59CCA4-82E1-4F10-9D99-6BFCA470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97880"/>
            <a:ext cx="75895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>
                <a:solidFill>
                  <a:srgbClr val="6F7F95"/>
                </a:solidFill>
                <a:latin typeface="Microsoft YaHei"/>
                <a:ea typeface="Microsoft YaHei"/>
                <a:cs typeface="Microsoft YaHei"/>
              </a:rPr>
              <a:t>当前版本是 MVP：已跑通产品闭环、页面结构、后端接口、推荐规则与 mock 数据。</a:t>
            </a:r>
          </a:p>
        </p:txBody>
      </p:sp>
    </p:spTree>
    <p:extLst>
      <p:ext uri="{BB962C8B-B14F-4D97-AF65-F5344CB8AC3E}">
        <p14:creationId xmlns:p14="http://schemas.microsoft.com/office/powerpoint/2010/main" val="52483126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2026-06-13T09:22:15.9160000Z</dcterms:created>
  <dcterms:modified xsi:type="dcterms:W3CDTF">2026-06-13T09:22:15.9160000Z</dcterms:modified>
</coreProperties>
</file>